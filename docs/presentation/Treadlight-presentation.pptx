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</p:sldIdLst>
  <p:sldSz cx="12192000" cy="6858000" type="screen16x9"/>
  <p:notesSz cx="6858000" cy="9144000"/>
  <p:defaultTextStyle>
    <a:defPPr>
      <a:defRPr lang="zh-C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>
    <a:lvl1pPr>
      <a:defRPr sz="1200"/>
    </a:lvl1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"/>
          <p:cNvSpPr txBox="1"/>
          <p:nvPr>
            <p:ph type="body" idx="1"/>
          </p:nvPr>
        </p:nvSpPr>
        <p:spPr>
          <a:xfrm>
            <a:off x="685800" y="11430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200">
                <a:latin typeface="Microsoft YaHei"/>
                <a:ea typeface="Microsoft YaHei"/>
              </a:rPr>
              <a:t>第 1 页｜踏光：两拍回响｜约 28 秒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大家好，我们的作品是《踏光：两拍回响》，一款以“律动”为核心的横向平台游戏。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它想表达一个简单的想法：一次踩准节拍的行动，可以让眼前的路亮起来；一次恰到好处的落地，则能让这束光留下来。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玩家要做的，就是在一来一回的节奏中，把破碎的道路重新连接起来。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【排练提示】开场看向观众；说完作品名略停顿。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"/>
          <p:cNvSpPr txBox="1"/>
          <p:nvPr>
            <p:ph type="body" idx="1"/>
          </p:nvPr>
        </p:nvSpPr>
        <p:spPr>
          <a:xfrm>
            <a:off x="685800" y="11430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200">
                <a:latin typeface="Microsoft YaHei"/>
                <a:ea typeface="Microsoft YaHei"/>
              </a:rPr>
              <a:t>第 2 页｜让行动改变世界｜约 24 秒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故事发生在一片失去光亮的空间。玩家控制一团微光，在安全平台、断开的桥梁和周期性激光之间前进。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我们把世界的变化交给玩家的动作：每修复一段光桥，环境就多一点颜色。所以通关的过程，也是在一点一点恢复这个空间。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【排练提示】指向“断路—造路—留光”示意，避免逐字读画面。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"/>
          <p:cNvSpPr txBox="1"/>
          <p:nvPr>
            <p:ph type="body" idx="1"/>
          </p:nvPr>
        </p:nvSpPr>
        <p:spPr>
          <a:xfrm>
            <a:off x="685800" y="11430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200">
                <a:latin typeface="Microsoft YaHei"/>
                <a:ea typeface="Microsoft YaHei"/>
              </a:rPr>
              <a:t>第 3 页｜起跳造路，落拍留光｜约 41 秒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核心玩法分为两步。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第一步是“起跳造路”。玩家在节拍附近真正从地面起跳，前方对应的光桥就会亮起，成为可以站立的平台，但只持续四拍。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第二步是“落拍留光”。如果玩家踩着节拍，实际落在这段光桥上，桥就会从青色变成金色，在本次尝试中持续保留，重开房间才会重置。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这样，起跳和落地都成为需要观察的时刻。玩家既要决定什么时候跳，也要判断落点在哪里。房间内所有光桥修复完成后，出口才会开启。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【排练提示】先指左图青桥，再指右图金桥；强调落地自动判定。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"/>
          <p:cNvSpPr txBox="1"/>
          <p:nvPr>
            <p:ph type="body" idx="1"/>
          </p:nvPr>
        </p:nvSpPr>
        <p:spPr>
          <a:xfrm>
            <a:off x="685800" y="11430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200">
                <a:latin typeface="Microsoft YaHei"/>
                <a:ea typeface="Microsoft YaHei"/>
              </a:rPr>
              <a:t>第 4 页｜有节奏，也有等待的空间｜约 41 秒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为了让节奏服务于操作，我们允许玩家随时普通跳跃，并保持普通起跳与踩拍起跳的高度一致。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当前音乐为一百二十 BPM，一次同高度的跳跃大约跨过两拍。系统提供“准确”和“良好”两档有效判定，屏幕上的四拍灯和角色周围的光圈，也会帮助玩家预判。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没有踩准时，玩家可以从安全平台重新尝试。激光则提前一拍显示预警，再进入危险状态，让玩家有时间观察和选择。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【排练提示】按三张卡片顺序解释，不必读全部参数。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"/>
          <p:cNvSpPr txBox="1"/>
          <p:nvPr>
            <p:ph type="body" idx="1"/>
          </p:nvPr>
        </p:nvSpPr>
        <p:spPr>
          <a:xfrm>
            <a:off x="685800" y="11430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200">
                <a:latin typeface="Microsoft YaHei"/>
                <a:ea typeface="Microsoft YaHei"/>
              </a:rPr>
              <a:t>第 5 页｜三个房间，逐步掌握｜约 31 秒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三个房间按照同一套规则逐步展开。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第一间“唤醒余音”只有一段光桥，没有激光，让玩家先理解起跳与落地的关系。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第二间“让光留下”加入有预警的激光，开始考验节奏和空间判断。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第三间“接续回响”组合两段光桥，需要连续完成修复。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我们用布局增加挑战，让玩家把前面学到的操作逐步串联起来。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【排练提示】按房间从左到右推进；突出规则复用。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"/>
          <p:cNvSpPr txBox="1"/>
          <p:nvPr>
            <p:ph type="body" idx="1"/>
          </p:nvPr>
        </p:nvSpPr>
        <p:spPr>
          <a:xfrm>
            <a:off x="685800" y="11430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200">
                <a:latin typeface="Microsoft YaHei"/>
                <a:ea typeface="Microsoft YaHei"/>
              </a:rPr>
              <a:t>第 6 页｜让节拍看得见、听得到｜约 31 秒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视觉上，我们用暗色几何场景突出光的变化：青色表示暂时出现，金色表示已经修复，激光用明显的预警与危险状态区分。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音轨、判定、机关和提示共用节拍时钟，让听到的节奏与看到的反馈相互对应。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音频校准功能则用于调整不同设备上的听觉与操作时间差，让玩家更容易找到适合自己的节拍感觉。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【排练提示】指向截图中的青桥、金桥与节拍反馈；实现只讲统一时钟。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"/>
          <p:cNvSpPr txBox="1"/>
          <p:nvPr>
            <p:ph type="body" idx="1"/>
          </p:nvPr>
        </p:nvSpPr>
        <p:spPr>
          <a:xfrm>
            <a:off x="685800" y="11430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200">
                <a:latin typeface="Microsoft YaHei"/>
                <a:ea typeface="Microsoft YaHei"/>
              </a:rPr>
              <a:t>第 7 页｜当前成果与协作安排｜约 31 秒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当前版本已经具备三个房间、教程、暂停、重试、计分和通关结算，也完成了现有自动检查与 Windows 启动验证。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三人协作安排中，A 负责程序、版本和整体统筹；B 负责玩法、关卡、引导与视觉；C 负责音频、测试及展示材料。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后续重点是共同完成独立设备试玩，并依据实际反馈调整手感和提示。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【排练提示】用“协作安排”表述，不将拟定职责说成已核实的历史贡献。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"/>
          <p:cNvSpPr txBox="1"/>
          <p:nvPr>
            <p:ph type="body" idx="1"/>
          </p:nvPr>
        </p:nvSpPr>
        <p:spPr>
          <a:xfrm>
            <a:off x="685800" y="1143000"/>
            <a:ext cx="5486400" cy="6858000"/>
          </a:xfrm>
          <a:prstGeom prst="rect">
            <a:avLst/>
          </a:prstGeom>
        </p:spPr>
        <p:txBody>
          <a:bodyPr/>
          <a:lstStyle/>
          <a:p>
            <a:r>
              <a:rPr lang="zh-CN" sz="1200">
                <a:latin typeface="Microsoft YaHei"/>
                <a:ea typeface="Microsoft YaHei"/>
              </a:rPr>
              <a:t>第 8 页｜让走过的路留下光｜约 23 秒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《踏光：两拍回响》希望让“律动”成为改变道路的规则。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玩家可以等待，可以尝试，也可以在掌握节奏后，连贯地把光桥一段段接起来。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我们希望最后留给玩家的感受是：刚才走过的路，因为自己的行动，真的亮了起来。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谢谢大家。</a:t>
            </a:r>
          </a:p>
          <a:p>
            <a:r>
              <a:rPr lang="zh-CN" sz="1200">
                <a:latin typeface="Microsoft YaHei"/>
                <a:ea typeface="Microsoft YaHei"/>
              </a:rPr>
              <a:t/>
            </a:r>
          </a:p>
          <a:p>
            <a:r>
              <a:rPr lang="zh-CN" sz="1200">
                <a:latin typeface="Microsoft YaHei"/>
                <a:ea typeface="Microsoft YaHei"/>
              </a:rPr>
              <a:t>【排练提示】最后两句话放慢；结束后停顿，再致谢。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ead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>
      <a:lvl1pPr>
        <a:defRPr sz="3200"/>
      </a:lvl1pPr>
    </p:titleStyle>
    <p:bodyStyle>
      <a:lvl1pPr>
        <a:defRPr sz="2000"/>
      </a:lvl1pPr>
    </p:bodyStyle>
    <p:otherStyle>
      <a:defPPr>
        <a:defRPr lang="zh-CN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img_gameplay" Type="http://schemas.openxmlformats.org/officeDocument/2006/relationships/image" Target="../media/gameplay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img_gameplay" Type="http://schemas.openxmlformats.org/officeDocument/2006/relationships/image" Target="../media/gameplay.png"/><Relationship Id="img_restored" Type="http://schemas.openxmlformats.org/officeDocument/2006/relationships/image" Target="../media/restored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img_restored" Type="http://schemas.openxmlformats.org/officeDocument/2006/relationships/image" Target="../media/restored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 2"/>
          <p:cNvSpPr txBox="1"/>
          <p:nvPr/>
        </p:nvSpPr>
        <p:spPr>
          <a:xfrm>
            <a:off x="594360" y="228600"/>
            <a:ext cx="105156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100" b="1">
                <a:solidFill>
                  <a:srgbClr val="69E7CE"/>
                </a:solidFill>
                <a:latin typeface="Microsoft YaHei"/>
                <a:ea typeface="Microsoft YaHei"/>
                <a:cs typeface="Arial"/>
              </a:rPr>
              <a:t>TREADLIGHT / 2D RHYTHM PLATFORMER</a:t>
            </a:r>
            <a:endParaRPr lang="zh-CN" sz="1100"/>
          </a:p>
        </p:txBody>
      </p:sp>
      <p:sp>
        <p:nvSpPr>
          <p:cNvPr id="3" name="图形 3"/>
          <p:cNvSpPr/>
          <p:nvPr/>
        </p:nvSpPr>
        <p:spPr>
          <a:xfrm>
            <a:off x="594360" y="6446520"/>
            <a:ext cx="11000232" cy="10973"/>
          </a:xfrm>
          <a:prstGeom prst="rect">
            <a:avLst/>
          </a:prstGeom>
          <a:solidFill>
            <a:srgbClr val="294651"/>
          </a:solidFill>
          <a:ln w="12700">
            <a:noFill/>
          </a:ln>
        </p:spPr>
      </p:sp>
      <p:sp>
        <p:nvSpPr>
          <p:cNvPr id="4" name="文本 4"/>
          <p:cNvSpPr txBox="1"/>
          <p:nvPr/>
        </p:nvSpPr>
        <p:spPr>
          <a:xfrm>
            <a:off x="594360" y="1005840"/>
            <a:ext cx="4709160" cy="173736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40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踏光：</a:t>
            </a:r>
            <a:endParaRPr lang="zh-CN" sz="4000"/>
          </a:p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40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两拍回响</a:t>
            </a:r>
            <a:endParaRPr lang="zh-CN" sz="4000"/>
          </a:p>
        </p:txBody>
      </p:sp>
      <p:sp>
        <p:nvSpPr>
          <p:cNvPr id="5" name="文本 5"/>
          <p:cNvSpPr txBox="1"/>
          <p:nvPr/>
        </p:nvSpPr>
        <p:spPr>
          <a:xfrm>
            <a:off x="594360" y="3054096"/>
            <a:ext cx="4800600" cy="502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400" b="1">
                <a:solidFill>
                  <a:srgbClr val="69E7CE"/>
                </a:solidFill>
                <a:latin typeface="Microsoft YaHei"/>
                <a:ea typeface="Microsoft YaHei"/>
                <a:cs typeface="Arial"/>
              </a:rPr>
              <a:t>起跳造路，落拍留光</a:t>
            </a:r>
            <a:endParaRPr lang="zh-CN" sz="2400"/>
          </a:p>
        </p:txBody>
      </p:sp>
      <p:sp>
        <p:nvSpPr>
          <p:cNvPr id="6" name="文本 6"/>
          <p:cNvSpPr txBox="1"/>
          <p:nvPr/>
        </p:nvSpPr>
        <p:spPr>
          <a:xfrm>
            <a:off x="594360" y="3794760"/>
            <a:ext cx="4663440" cy="914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1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用有节奏的起落，</a:t>
            </a:r>
            <a:endParaRPr lang="zh-CN" sz="2100"/>
          </a:p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1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把破碎的道路重新连接。</a:t>
            </a:r>
            <a:endParaRPr lang="zh-CN" sz="2100"/>
          </a:p>
        </p:txBody>
      </p:sp>
      <p:sp>
        <p:nvSpPr>
          <p:cNvPr id="7" name="文本 7"/>
          <p:cNvSpPr txBox="1"/>
          <p:nvPr/>
        </p:nvSpPr>
        <p:spPr>
          <a:xfrm>
            <a:off x="594360" y="5632704"/>
            <a:ext cx="457200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600" b="0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团队 A · B · C</a:t>
            </a:r>
            <a:endParaRPr lang="zh-CN" sz="1600"/>
          </a:p>
        </p:txBody>
      </p:sp>
      <p:sp>
        <p:nvSpPr>
          <p:cNvPr id="8" name="文本 8"/>
          <p:cNvSpPr txBox="1"/>
          <p:nvPr/>
        </p:nvSpPr>
        <p:spPr>
          <a:xfrm>
            <a:off x="594360" y="6035040"/>
            <a:ext cx="457200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2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v0.2  /  Windows x64</a:t>
            </a:r>
            <a:endParaRPr lang="zh-CN" sz="1200"/>
          </a:p>
        </p:txBody>
      </p:sp>
      <p:sp>
        <p:nvSpPr>
          <p:cNvPr id="9" name="图形 9"/>
          <p:cNvSpPr/>
          <p:nvPr/>
        </p:nvSpPr>
        <p:spPr>
          <a:xfrm>
            <a:off x="5669280" y="1042416"/>
            <a:ext cx="5925312" cy="4023360"/>
          </a:xfrm>
          <a:prstGeom prst="roundRect">
            <a:avLst/>
          </a:prstGeom>
          <a:solidFill>
            <a:srgbClr val="102732"/>
          </a:solidFill>
          <a:ln w="12700">
            <a:noFill/>
          </a:ln>
        </p:spPr>
      </p:sp>
      <p:pic>
        <p:nvPicPr>
          <p:cNvPr id="10" name="实际游戏截图 10" descr="踩拍起跳后的临时青桥"/>
          <p:cNvPicPr>
            <a:picLocks noChangeAspect="1"/>
          </p:cNvPicPr>
          <p:nvPr/>
        </p:nvPicPr>
        <p:blipFill>
          <a:blip r:embed="img_gameplay"/>
          <a:stretch>
            <a:fillRect/>
          </a:stretch>
        </p:blipFill>
        <p:spPr>
          <a:xfrm>
            <a:off x="5815584" y="1188720"/>
            <a:ext cx="5632704" cy="3168396"/>
          </a:xfrm>
          <a:prstGeom prst="rect">
            <a:avLst/>
          </a:prstGeom>
          <a:ln>
            <a:noFill/>
          </a:ln>
        </p:spPr>
      </p:pic>
      <p:sp>
        <p:nvSpPr>
          <p:cNvPr id="11" name="文本 11"/>
          <p:cNvSpPr txBox="1"/>
          <p:nvPr/>
        </p:nvSpPr>
        <p:spPr>
          <a:xfrm>
            <a:off x="5870448" y="4562856"/>
            <a:ext cx="5577840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800" b="1">
                <a:solidFill>
                  <a:srgbClr val="F5C96D"/>
                </a:solidFill>
                <a:latin typeface="Microsoft YaHei"/>
                <a:ea typeface="Microsoft YaHei"/>
                <a:cs typeface="Arial"/>
              </a:rPr>
              <a:t>让短暂的光，成为走得过去的路</a:t>
            </a:r>
            <a:endParaRPr lang="zh-CN" sz="1800"/>
          </a:p>
        </p:txBody>
      </p:sp>
      <p:sp>
        <p:nvSpPr>
          <p:cNvPr id="12" name="图形 12"/>
          <p:cNvSpPr/>
          <p:nvPr/>
        </p:nvSpPr>
        <p:spPr>
          <a:xfrm>
            <a:off x="6080760" y="5669280"/>
            <a:ext cx="2011680" cy="91440"/>
          </a:xfrm>
          <a:prstGeom prst="rect">
            <a:avLst/>
          </a:prstGeom>
          <a:solidFill>
            <a:srgbClr val="69E7CE"/>
          </a:solidFill>
          <a:ln w="12700">
            <a:noFill/>
          </a:ln>
        </p:spPr>
      </p:sp>
      <p:sp>
        <p:nvSpPr>
          <p:cNvPr id="13" name="图形 13"/>
          <p:cNvSpPr/>
          <p:nvPr/>
        </p:nvSpPr>
        <p:spPr>
          <a:xfrm>
            <a:off x="6563563" y="5852160"/>
            <a:ext cx="64008" cy="64008"/>
          </a:xfrm>
          <a:prstGeom prst="ellipse">
            <a:avLst/>
          </a:prstGeom>
          <a:solidFill>
            <a:srgbClr val="69E7CE"/>
          </a:solidFill>
          <a:ln w="12700">
            <a:noFill/>
          </a:ln>
        </p:spPr>
      </p:sp>
      <p:sp>
        <p:nvSpPr>
          <p:cNvPr id="14" name="图形 14"/>
          <p:cNvSpPr/>
          <p:nvPr/>
        </p:nvSpPr>
        <p:spPr>
          <a:xfrm>
            <a:off x="6728155" y="5852160"/>
            <a:ext cx="64008" cy="64008"/>
          </a:xfrm>
          <a:prstGeom prst="ellipse">
            <a:avLst/>
          </a:prstGeom>
          <a:solidFill>
            <a:srgbClr val="69E7CE"/>
          </a:solidFill>
          <a:ln w="12700">
            <a:noFill/>
          </a:ln>
        </p:spPr>
      </p:sp>
      <p:sp>
        <p:nvSpPr>
          <p:cNvPr id="15" name="图形 15"/>
          <p:cNvSpPr/>
          <p:nvPr/>
        </p:nvSpPr>
        <p:spPr>
          <a:xfrm>
            <a:off x="6892747" y="5852160"/>
            <a:ext cx="64008" cy="64008"/>
          </a:xfrm>
          <a:prstGeom prst="ellipse">
            <a:avLst/>
          </a:prstGeom>
          <a:solidFill>
            <a:srgbClr val="69E7CE"/>
          </a:solidFill>
          <a:ln w="12700">
            <a:noFill/>
          </a:ln>
        </p:spPr>
      </p:sp>
      <p:sp>
        <p:nvSpPr>
          <p:cNvPr id="16" name="图形 16"/>
          <p:cNvSpPr/>
          <p:nvPr/>
        </p:nvSpPr>
        <p:spPr>
          <a:xfrm>
            <a:off x="7057339" y="5852160"/>
            <a:ext cx="64008" cy="64008"/>
          </a:xfrm>
          <a:prstGeom prst="ellipse">
            <a:avLst/>
          </a:prstGeom>
          <a:solidFill>
            <a:srgbClr val="69E7CE"/>
          </a:solidFill>
          <a:ln w="12700">
            <a:noFill/>
          </a:ln>
        </p:spPr>
      </p:sp>
      <p:sp>
        <p:nvSpPr>
          <p:cNvPr id="17" name="图形 17"/>
          <p:cNvSpPr/>
          <p:nvPr/>
        </p:nvSpPr>
        <p:spPr>
          <a:xfrm>
            <a:off x="8366760" y="5669280"/>
            <a:ext cx="2468880" cy="91440"/>
          </a:xfrm>
          <a:prstGeom prst="rect">
            <a:avLst/>
          </a:prstGeom>
          <a:solidFill>
            <a:srgbClr val="F5C96D"/>
          </a:solidFill>
          <a:ln w="12700">
            <a:noFill/>
          </a:ln>
        </p:spPr>
      </p:sp>
      <p:sp>
        <p:nvSpPr>
          <p:cNvPr id="18" name="图形 18"/>
          <p:cNvSpPr/>
          <p:nvPr/>
        </p:nvSpPr>
        <p:spPr>
          <a:xfrm>
            <a:off x="8959291" y="5852160"/>
            <a:ext cx="64008" cy="64008"/>
          </a:xfrm>
          <a:prstGeom prst="ellipse">
            <a:avLst/>
          </a:prstGeom>
          <a:solidFill>
            <a:srgbClr val="F5C96D"/>
          </a:solidFill>
          <a:ln w="12700">
            <a:noFill/>
          </a:ln>
        </p:spPr>
      </p:sp>
      <p:sp>
        <p:nvSpPr>
          <p:cNvPr id="19" name="图形 19"/>
          <p:cNvSpPr/>
          <p:nvPr/>
        </p:nvSpPr>
        <p:spPr>
          <a:xfrm>
            <a:off x="9123883" y="5852160"/>
            <a:ext cx="64008" cy="64008"/>
          </a:xfrm>
          <a:prstGeom prst="ellipse">
            <a:avLst/>
          </a:prstGeom>
          <a:solidFill>
            <a:srgbClr val="F5C96D"/>
          </a:solidFill>
          <a:ln w="12700">
            <a:noFill/>
          </a:ln>
        </p:spPr>
      </p:sp>
      <p:sp>
        <p:nvSpPr>
          <p:cNvPr id="20" name="图形 20"/>
          <p:cNvSpPr/>
          <p:nvPr/>
        </p:nvSpPr>
        <p:spPr>
          <a:xfrm>
            <a:off x="9288475" y="5852160"/>
            <a:ext cx="64008" cy="64008"/>
          </a:xfrm>
          <a:prstGeom prst="ellipse">
            <a:avLst/>
          </a:prstGeom>
          <a:solidFill>
            <a:srgbClr val="F5C96D"/>
          </a:solidFill>
          <a:ln w="12700">
            <a:noFill/>
          </a:ln>
        </p:spPr>
      </p:sp>
      <p:sp>
        <p:nvSpPr>
          <p:cNvPr id="21" name="图形 21"/>
          <p:cNvSpPr/>
          <p:nvPr/>
        </p:nvSpPr>
        <p:spPr>
          <a:xfrm>
            <a:off x="9453067" y="5852160"/>
            <a:ext cx="64008" cy="64008"/>
          </a:xfrm>
          <a:prstGeom prst="ellipse">
            <a:avLst/>
          </a:prstGeom>
          <a:solidFill>
            <a:srgbClr val="F5C96D"/>
          </a:solidFill>
          <a:ln w="12700">
            <a:noFill/>
          </a:ln>
        </p:spPr>
      </p:sp>
      <p:sp>
        <p:nvSpPr>
          <p:cNvPr id="22" name="文本 22"/>
          <p:cNvSpPr txBox="1"/>
          <p:nvPr/>
        </p:nvSpPr>
        <p:spPr>
          <a:xfrm>
            <a:off x="594360" y="6583680"/>
            <a:ext cx="73152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9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TREADLIGHT  /  踏光：两拍回响</a:t>
            </a:r>
            <a:endParaRPr lang="zh-CN" sz="900"/>
          </a:p>
        </p:txBody>
      </p:sp>
      <p:sp>
        <p:nvSpPr>
          <p:cNvPr id="23" name="文本 23"/>
          <p:cNvSpPr txBox="1"/>
          <p:nvPr/>
        </p:nvSpPr>
        <p:spPr>
          <a:xfrm>
            <a:off x="10835640" y="6583680"/>
            <a:ext cx="768096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9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01 / 08</a:t>
            </a:r>
            <a:endParaRPr lang="zh-CN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 2"/>
          <p:cNvSpPr txBox="1"/>
          <p:nvPr/>
        </p:nvSpPr>
        <p:spPr>
          <a:xfrm>
            <a:off x="594360" y="228600"/>
            <a:ext cx="105156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100" b="1">
                <a:solidFill>
                  <a:srgbClr val="69E7CE"/>
                </a:solidFill>
                <a:latin typeface="Microsoft YaHei"/>
                <a:ea typeface="Microsoft YaHei"/>
                <a:cs typeface="Arial"/>
              </a:rPr>
              <a:t>01 / 作品立意</a:t>
            </a:r>
            <a:endParaRPr lang="zh-CN" sz="1100"/>
          </a:p>
        </p:txBody>
      </p:sp>
      <p:sp>
        <p:nvSpPr>
          <p:cNvPr id="3" name="文本 3"/>
          <p:cNvSpPr txBox="1"/>
          <p:nvPr/>
        </p:nvSpPr>
        <p:spPr>
          <a:xfrm>
            <a:off x="594360" y="694944"/>
            <a:ext cx="10972800" cy="60350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32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让一次行动，留下可见的改变</a:t>
            </a:r>
            <a:endParaRPr lang="zh-CN" sz="3200"/>
          </a:p>
        </p:txBody>
      </p:sp>
      <p:sp>
        <p:nvSpPr>
          <p:cNvPr id="4" name="文本 4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7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律动同时改变操作的时机与道路的状态</a:t>
            </a:r>
            <a:endParaRPr lang="zh-CN" sz="1700"/>
          </a:p>
        </p:txBody>
      </p:sp>
      <p:sp>
        <p:nvSpPr>
          <p:cNvPr id="5" name="图形 5"/>
          <p:cNvSpPr/>
          <p:nvPr/>
        </p:nvSpPr>
        <p:spPr>
          <a:xfrm>
            <a:off x="594360" y="6446520"/>
            <a:ext cx="11000232" cy="10973"/>
          </a:xfrm>
          <a:prstGeom prst="rect">
            <a:avLst/>
          </a:prstGeom>
          <a:solidFill>
            <a:srgbClr val="294651"/>
          </a:solidFill>
          <a:ln w="12700">
            <a:noFill/>
          </a:ln>
        </p:spPr>
      </p:sp>
      <p:sp>
        <p:nvSpPr>
          <p:cNvPr id="6" name="文本 6"/>
          <p:cNvSpPr txBox="1"/>
          <p:nvPr/>
        </p:nvSpPr>
        <p:spPr>
          <a:xfrm>
            <a:off x="594360" y="2011680"/>
            <a:ext cx="5029200" cy="11887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30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沉寂的遗迹，</a:t>
            </a:r>
            <a:endParaRPr lang="zh-CN" sz="3000"/>
          </a:p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30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等待被重新连接。</a:t>
            </a:r>
            <a:endParaRPr lang="zh-CN" sz="3000"/>
          </a:p>
        </p:txBody>
      </p:sp>
      <p:sp>
        <p:nvSpPr>
          <p:cNvPr id="7" name="文本 7"/>
          <p:cNvSpPr txBox="1"/>
          <p:nvPr/>
        </p:nvSpPr>
        <p:spPr>
          <a:xfrm>
            <a:off x="594360" y="3675888"/>
            <a:ext cx="5029200" cy="1371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2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断路构成挑战，节拍提供线索。</a:t>
            </a:r>
            <a:endParaRPr lang="zh-CN" sz="2200"/>
          </a:p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2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每完成一次修复，</a:t>
            </a:r>
            <a:endParaRPr lang="zh-CN" sz="2200"/>
          </a:p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2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玩家都能看见自己的进展。</a:t>
            </a:r>
            <a:endParaRPr lang="zh-CN" sz="2200"/>
          </a:p>
        </p:txBody>
      </p:sp>
      <p:sp>
        <p:nvSpPr>
          <p:cNvPr id="8" name="图形 8"/>
          <p:cNvSpPr/>
          <p:nvPr/>
        </p:nvSpPr>
        <p:spPr>
          <a:xfrm>
            <a:off x="6428232" y="1956816"/>
            <a:ext cx="5166360" cy="1024128"/>
          </a:xfrm>
          <a:prstGeom prst="roundRect">
            <a:avLst/>
          </a:prstGeom>
          <a:solidFill>
            <a:srgbClr val="102732"/>
          </a:solidFill>
          <a:ln w="12700">
            <a:noFill/>
          </a:ln>
        </p:spPr>
      </p:sp>
      <p:sp>
        <p:nvSpPr>
          <p:cNvPr id="9" name="文本 9"/>
          <p:cNvSpPr txBox="1"/>
          <p:nvPr/>
        </p:nvSpPr>
        <p:spPr>
          <a:xfrm>
            <a:off x="6638544" y="2167128"/>
            <a:ext cx="640080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500" b="1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01</a:t>
            </a:r>
            <a:endParaRPr lang="zh-CN" sz="2500"/>
          </a:p>
        </p:txBody>
      </p:sp>
      <p:sp>
        <p:nvSpPr>
          <p:cNvPr id="10" name="文本 10"/>
          <p:cNvSpPr txBox="1"/>
          <p:nvPr/>
        </p:nvSpPr>
        <p:spPr>
          <a:xfrm>
            <a:off x="7461504" y="2093976"/>
            <a:ext cx="1097280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4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断路</a:t>
            </a:r>
            <a:endParaRPr lang="zh-CN" sz="2400"/>
          </a:p>
        </p:txBody>
      </p:sp>
      <p:sp>
        <p:nvSpPr>
          <p:cNvPr id="11" name="文本 11"/>
          <p:cNvSpPr txBox="1"/>
          <p:nvPr/>
        </p:nvSpPr>
        <p:spPr>
          <a:xfrm>
            <a:off x="8714232" y="2203704"/>
            <a:ext cx="246888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9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观察与等待</a:t>
            </a:r>
            <a:endParaRPr lang="zh-CN" sz="1900"/>
          </a:p>
        </p:txBody>
      </p:sp>
      <p:sp>
        <p:nvSpPr>
          <p:cNvPr id="12" name="图形 12"/>
          <p:cNvSpPr/>
          <p:nvPr/>
        </p:nvSpPr>
        <p:spPr>
          <a:xfrm>
            <a:off x="6428232" y="3191256"/>
            <a:ext cx="5166360" cy="1024128"/>
          </a:xfrm>
          <a:prstGeom prst="roundRect">
            <a:avLst/>
          </a:prstGeom>
          <a:solidFill>
            <a:srgbClr val="102732"/>
          </a:solidFill>
          <a:ln w="12700">
            <a:noFill/>
          </a:ln>
        </p:spPr>
      </p:sp>
      <p:sp>
        <p:nvSpPr>
          <p:cNvPr id="13" name="文本 13"/>
          <p:cNvSpPr txBox="1"/>
          <p:nvPr/>
        </p:nvSpPr>
        <p:spPr>
          <a:xfrm>
            <a:off x="6638544" y="3401568"/>
            <a:ext cx="640080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500" b="1">
                <a:solidFill>
                  <a:srgbClr val="69E7CE"/>
                </a:solidFill>
                <a:latin typeface="Microsoft YaHei"/>
                <a:ea typeface="Microsoft YaHei"/>
                <a:cs typeface="Arial"/>
              </a:rPr>
              <a:t>02</a:t>
            </a:r>
            <a:endParaRPr lang="zh-CN" sz="2500"/>
          </a:p>
        </p:txBody>
      </p:sp>
      <p:sp>
        <p:nvSpPr>
          <p:cNvPr id="14" name="文本 14"/>
          <p:cNvSpPr txBox="1"/>
          <p:nvPr/>
        </p:nvSpPr>
        <p:spPr>
          <a:xfrm>
            <a:off x="7461504" y="3328416"/>
            <a:ext cx="1097280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4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造路</a:t>
            </a:r>
            <a:endParaRPr lang="zh-CN" sz="2400"/>
          </a:p>
        </p:txBody>
      </p:sp>
      <p:sp>
        <p:nvSpPr>
          <p:cNvPr id="15" name="文本 15"/>
          <p:cNvSpPr txBox="1"/>
          <p:nvPr/>
        </p:nvSpPr>
        <p:spPr>
          <a:xfrm>
            <a:off x="8714232" y="3438144"/>
            <a:ext cx="246888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900" b="0">
                <a:solidFill>
                  <a:srgbClr val="69E7CE"/>
                </a:solidFill>
                <a:latin typeface="Microsoft YaHei"/>
                <a:ea typeface="Microsoft YaHei"/>
                <a:cs typeface="Arial"/>
              </a:rPr>
              <a:t>踩拍起跳</a:t>
            </a:r>
            <a:endParaRPr lang="zh-CN" sz="1900"/>
          </a:p>
        </p:txBody>
      </p:sp>
      <p:sp>
        <p:nvSpPr>
          <p:cNvPr id="16" name="图形 16"/>
          <p:cNvSpPr/>
          <p:nvPr/>
        </p:nvSpPr>
        <p:spPr>
          <a:xfrm>
            <a:off x="6428232" y="4425696"/>
            <a:ext cx="5166360" cy="1024128"/>
          </a:xfrm>
          <a:prstGeom prst="roundRect">
            <a:avLst/>
          </a:prstGeom>
          <a:solidFill>
            <a:srgbClr val="102732"/>
          </a:solidFill>
          <a:ln w="12700">
            <a:noFill/>
          </a:ln>
        </p:spPr>
      </p:sp>
      <p:sp>
        <p:nvSpPr>
          <p:cNvPr id="17" name="文本 17"/>
          <p:cNvSpPr txBox="1"/>
          <p:nvPr/>
        </p:nvSpPr>
        <p:spPr>
          <a:xfrm>
            <a:off x="6638544" y="4636008"/>
            <a:ext cx="640080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500" b="1">
                <a:solidFill>
                  <a:srgbClr val="F5C96D"/>
                </a:solidFill>
                <a:latin typeface="Microsoft YaHei"/>
                <a:ea typeface="Microsoft YaHei"/>
                <a:cs typeface="Arial"/>
              </a:rPr>
              <a:t>03</a:t>
            </a:r>
            <a:endParaRPr lang="zh-CN" sz="2500"/>
          </a:p>
        </p:txBody>
      </p:sp>
      <p:sp>
        <p:nvSpPr>
          <p:cNvPr id="18" name="文本 18"/>
          <p:cNvSpPr txBox="1"/>
          <p:nvPr/>
        </p:nvSpPr>
        <p:spPr>
          <a:xfrm>
            <a:off x="7461504" y="4562856"/>
            <a:ext cx="1097280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4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留光</a:t>
            </a:r>
            <a:endParaRPr lang="zh-CN" sz="2400"/>
          </a:p>
        </p:txBody>
      </p:sp>
      <p:sp>
        <p:nvSpPr>
          <p:cNvPr id="19" name="文本 19"/>
          <p:cNvSpPr txBox="1"/>
          <p:nvPr/>
        </p:nvSpPr>
        <p:spPr>
          <a:xfrm>
            <a:off x="8714232" y="4672584"/>
            <a:ext cx="246888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900" b="0">
                <a:solidFill>
                  <a:srgbClr val="F5C96D"/>
                </a:solidFill>
                <a:latin typeface="Microsoft YaHei"/>
                <a:ea typeface="Microsoft YaHei"/>
                <a:cs typeface="Arial"/>
              </a:rPr>
              <a:t>落拍固定</a:t>
            </a:r>
            <a:endParaRPr lang="zh-CN" sz="1900"/>
          </a:p>
        </p:txBody>
      </p:sp>
      <p:sp>
        <p:nvSpPr>
          <p:cNvPr id="20" name="文本 20"/>
          <p:cNvSpPr txBox="1"/>
          <p:nvPr/>
        </p:nvSpPr>
        <p:spPr>
          <a:xfrm>
            <a:off x="6428232" y="5897880"/>
            <a:ext cx="5166360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900" b="0">
                <a:solidFill>
                  <a:srgbClr val="F5C96D"/>
                </a:solidFill>
                <a:latin typeface="Microsoft YaHei"/>
                <a:ea typeface="Microsoft YaHei"/>
                <a:cs typeface="Arial"/>
              </a:rPr>
              <a:t>动作 → 道路 → 世界的变化</a:t>
            </a:r>
            <a:endParaRPr lang="zh-CN" sz="1900"/>
          </a:p>
        </p:txBody>
      </p:sp>
      <p:sp>
        <p:nvSpPr>
          <p:cNvPr id="21" name="文本 21"/>
          <p:cNvSpPr txBox="1"/>
          <p:nvPr/>
        </p:nvSpPr>
        <p:spPr>
          <a:xfrm>
            <a:off x="594360" y="6583680"/>
            <a:ext cx="73152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9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TREADLIGHT  /  踏光：两拍回响</a:t>
            </a:r>
            <a:endParaRPr lang="zh-CN" sz="900"/>
          </a:p>
        </p:txBody>
      </p:sp>
      <p:sp>
        <p:nvSpPr>
          <p:cNvPr id="22" name="文本 22"/>
          <p:cNvSpPr txBox="1"/>
          <p:nvPr/>
        </p:nvSpPr>
        <p:spPr>
          <a:xfrm>
            <a:off x="10835640" y="6583680"/>
            <a:ext cx="768096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9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02 / 08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 2"/>
          <p:cNvSpPr txBox="1"/>
          <p:nvPr/>
        </p:nvSpPr>
        <p:spPr>
          <a:xfrm>
            <a:off x="594360" y="228600"/>
            <a:ext cx="105156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100" b="1">
                <a:solidFill>
                  <a:srgbClr val="69E7CE"/>
                </a:solidFill>
                <a:latin typeface="Microsoft YaHei"/>
                <a:ea typeface="Microsoft YaHei"/>
                <a:cs typeface="Arial"/>
              </a:rPr>
              <a:t>02 / 核心机制</a:t>
            </a:r>
            <a:endParaRPr lang="zh-CN" sz="1100"/>
          </a:p>
        </p:txBody>
      </p:sp>
      <p:sp>
        <p:nvSpPr>
          <p:cNvPr id="3" name="文本 3"/>
          <p:cNvSpPr txBox="1"/>
          <p:nvPr/>
        </p:nvSpPr>
        <p:spPr>
          <a:xfrm>
            <a:off x="594360" y="694944"/>
            <a:ext cx="10972800" cy="60350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32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起跳造路，落拍留光</a:t>
            </a:r>
            <a:endParaRPr lang="zh-CN" sz="3200"/>
          </a:p>
        </p:txBody>
      </p:sp>
      <p:sp>
        <p:nvSpPr>
          <p:cNvPr id="4" name="文本 4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7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一次完整起落，让临时通路成为稳定的进展</a:t>
            </a:r>
            <a:endParaRPr lang="zh-CN" sz="1700"/>
          </a:p>
        </p:txBody>
      </p:sp>
      <p:sp>
        <p:nvSpPr>
          <p:cNvPr id="5" name="图形 5"/>
          <p:cNvSpPr/>
          <p:nvPr/>
        </p:nvSpPr>
        <p:spPr>
          <a:xfrm>
            <a:off x="594360" y="6446520"/>
            <a:ext cx="11000232" cy="10973"/>
          </a:xfrm>
          <a:prstGeom prst="rect">
            <a:avLst/>
          </a:prstGeom>
          <a:solidFill>
            <a:srgbClr val="294651"/>
          </a:solidFill>
          <a:ln w="12700">
            <a:noFill/>
          </a:ln>
        </p:spPr>
      </p:sp>
      <p:sp>
        <p:nvSpPr>
          <p:cNvPr id="6" name="文本 6"/>
          <p:cNvSpPr txBox="1"/>
          <p:nvPr/>
        </p:nvSpPr>
        <p:spPr>
          <a:xfrm>
            <a:off x="594360" y="1847088"/>
            <a:ext cx="5303520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400" b="1">
                <a:solidFill>
                  <a:srgbClr val="69E7CE"/>
                </a:solidFill>
                <a:latin typeface="Microsoft YaHei"/>
                <a:ea typeface="Microsoft YaHei"/>
                <a:cs typeface="Arial"/>
              </a:rPr>
              <a:t>01  起跳造路</a:t>
            </a:r>
            <a:endParaRPr lang="zh-CN" sz="2400"/>
          </a:p>
        </p:txBody>
      </p:sp>
      <p:sp>
        <p:nvSpPr>
          <p:cNvPr id="7" name="文本 7"/>
          <p:cNvSpPr txBox="1"/>
          <p:nvPr/>
        </p:nvSpPr>
        <p:spPr>
          <a:xfrm>
            <a:off x="6291072" y="1847088"/>
            <a:ext cx="5303520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400" b="1">
                <a:solidFill>
                  <a:srgbClr val="F5C96D"/>
                </a:solidFill>
                <a:latin typeface="Microsoft YaHei"/>
                <a:ea typeface="Microsoft YaHei"/>
                <a:cs typeface="Arial"/>
              </a:rPr>
              <a:t>02  落拍留光</a:t>
            </a:r>
            <a:endParaRPr lang="zh-CN" sz="2400"/>
          </a:p>
        </p:txBody>
      </p:sp>
      <p:pic>
        <p:nvPicPr>
          <p:cNvPr id="8" name="实际游戏截图 8" descr="踩拍起跳后的临时青桥"/>
          <p:cNvPicPr>
            <a:picLocks noChangeAspect="1"/>
          </p:cNvPicPr>
          <p:nvPr/>
        </p:nvPicPr>
        <p:blipFill>
          <a:blip r:embed="img_gameplay"/>
          <a:stretch>
            <a:fillRect/>
          </a:stretch>
        </p:blipFill>
        <p:spPr>
          <a:xfrm>
            <a:off x="594360" y="2386584"/>
            <a:ext cx="5303520" cy="2983230"/>
          </a:xfrm>
          <a:prstGeom prst="rect">
            <a:avLst/>
          </a:prstGeom>
          <a:ln>
            <a:noFill/>
          </a:ln>
        </p:spPr>
      </p:pic>
      <p:pic>
        <p:nvPicPr>
          <p:cNvPr id="9" name="实际游戏截图 9" descr="落拍固定后的金桥"/>
          <p:cNvPicPr>
            <a:picLocks noChangeAspect="1"/>
          </p:cNvPicPr>
          <p:nvPr/>
        </p:nvPicPr>
        <p:blipFill>
          <a:blip r:embed="img_restored"/>
          <a:stretch>
            <a:fillRect/>
          </a:stretch>
        </p:blipFill>
        <p:spPr>
          <a:xfrm>
            <a:off x="6291072" y="2386584"/>
            <a:ext cx="5303520" cy="2983230"/>
          </a:xfrm>
          <a:prstGeom prst="rect">
            <a:avLst/>
          </a:prstGeom>
          <a:ln>
            <a:noFill/>
          </a:ln>
        </p:spPr>
      </p:pic>
      <p:sp>
        <p:nvSpPr>
          <p:cNvPr id="10" name="文本 10"/>
          <p:cNvSpPr txBox="1"/>
          <p:nvPr/>
        </p:nvSpPr>
        <p:spPr>
          <a:xfrm>
            <a:off x="594360" y="5495544"/>
            <a:ext cx="5303520" cy="69494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900" b="0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踩拍从地面起跳</a:t>
            </a:r>
            <a:endParaRPr lang="zh-CN" sz="1900"/>
          </a:p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900" b="0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青桥出现，持续四拍</a:t>
            </a:r>
            <a:endParaRPr lang="zh-CN" sz="1900"/>
          </a:p>
        </p:txBody>
      </p:sp>
      <p:sp>
        <p:nvSpPr>
          <p:cNvPr id="11" name="文本 11"/>
          <p:cNvSpPr txBox="1"/>
          <p:nvPr/>
        </p:nvSpPr>
        <p:spPr>
          <a:xfrm>
            <a:off x="6291072" y="5495544"/>
            <a:ext cx="5303520" cy="69494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900" b="0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踩拍落在目标桥面</a:t>
            </a:r>
            <a:endParaRPr lang="zh-CN" sz="1900"/>
          </a:p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900" b="0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金桥固定，共鸣点亮</a:t>
            </a:r>
            <a:endParaRPr lang="zh-CN" sz="1900"/>
          </a:p>
        </p:txBody>
      </p:sp>
      <p:sp>
        <p:nvSpPr>
          <p:cNvPr id="12" name="文本 12"/>
          <p:cNvSpPr txBox="1"/>
          <p:nvPr/>
        </p:nvSpPr>
        <p:spPr>
          <a:xfrm>
            <a:off x="594360" y="6245352"/>
            <a:ext cx="1097280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05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金桥在本次尝试中保留；重开房间会重置。全部共鸣修复后开启出口。</a:t>
            </a:r>
            <a:endParaRPr lang="zh-CN" sz="1050"/>
          </a:p>
        </p:txBody>
      </p:sp>
      <p:sp>
        <p:nvSpPr>
          <p:cNvPr id="13" name="文本 13"/>
          <p:cNvSpPr txBox="1"/>
          <p:nvPr/>
        </p:nvSpPr>
        <p:spPr>
          <a:xfrm>
            <a:off x="594360" y="6583680"/>
            <a:ext cx="73152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9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TREADLIGHT  /  踏光：两拍回响</a:t>
            </a:r>
            <a:endParaRPr lang="zh-CN" sz="900"/>
          </a:p>
        </p:txBody>
      </p:sp>
      <p:sp>
        <p:nvSpPr>
          <p:cNvPr id="14" name="文本 14"/>
          <p:cNvSpPr txBox="1"/>
          <p:nvPr/>
        </p:nvSpPr>
        <p:spPr>
          <a:xfrm>
            <a:off x="10835640" y="6583680"/>
            <a:ext cx="768096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9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03 / 08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 2"/>
          <p:cNvSpPr txBox="1"/>
          <p:nvPr/>
        </p:nvSpPr>
        <p:spPr>
          <a:xfrm>
            <a:off x="594360" y="228600"/>
            <a:ext cx="105156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100" b="1">
                <a:solidFill>
                  <a:srgbClr val="69E7CE"/>
                </a:solidFill>
                <a:latin typeface="Microsoft YaHei"/>
                <a:ea typeface="Microsoft YaHei"/>
                <a:cs typeface="Arial"/>
              </a:rPr>
              <a:t>03 / 操作与容错</a:t>
            </a:r>
            <a:endParaRPr lang="zh-CN" sz="1100"/>
          </a:p>
        </p:txBody>
      </p:sp>
      <p:sp>
        <p:nvSpPr>
          <p:cNvPr id="3" name="文本 3"/>
          <p:cNvSpPr txBox="1"/>
          <p:nvPr/>
        </p:nvSpPr>
        <p:spPr>
          <a:xfrm>
            <a:off x="594360" y="694944"/>
            <a:ext cx="10972800" cy="60350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32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有节奏，也有等待的空间</a:t>
            </a:r>
            <a:endParaRPr lang="zh-CN" sz="3200"/>
          </a:p>
        </p:txBody>
      </p:sp>
      <p:sp>
        <p:nvSpPr>
          <p:cNvPr id="4" name="文本 4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7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普通跳跃随时可用，踩拍跳跃保持相同轨迹</a:t>
            </a:r>
            <a:endParaRPr lang="zh-CN" sz="1700"/>
          </a:p>
        </p:txBody>
      </p:sp>
      <p:sp>
        <p:nvSpPr>
          <p:cNvPr id="5" name="图形 5"/>
          <p:cNvSpPr/>
          <p:nvPr/>
        </p:nvSpPr>
        <p:spPr>
          <a:xfrm>
            <a:off x="594360" y="6446520"/>
            <a:ext cx="11000232" cy="10973"/>
          </a:xfrm>
          <a:prstGeom prst="rect">
            <a:avLst/>
          </a:prstGeom>
          <a:solidFill>
            <a:srgbClr val="294651"/>
          </a:solidFill>
          <a:ln w="12700">
            <a:noFill/>
          </a:ln>
        </p:spPr>
      </p:sp>
      <p:sp>
        <p:nvSpPr>
          <p:cNvPr id="6" name="图形 6"/>
          <p:cNvSpPr/>
          <p:nvPr/>
        </p:nvSpPr>
        <p:spPr>
          <a:xfrm>
            <a:off x="594360" y="1938528"/>
            <a:ext cx="3447288" cy="3639312"/>
          </a:xfrm>
          <a:prstGeom prst="roundRect">
            <a:avLst/>
          </a:prstGeom>
          <a:solidFill>
            <a:srgbClr val="102732"/>
          </a:solidFill>
          <a:ln w="12700">
            <a:noFill/>
          </a:ln>
        </p:spPr>
      </p:sp>
      <p:sp>
        <p:nvSpPr>
          <p:cNvPr id="7" name="文本 7"/>
          <p:cNvSpPr txBox="1"/>
          <p:nvPr/>
        </p:nvSpPr>
        <p:spPr>
          <a:xfrm>
            <a:off x="813816" y="2267712"/>
            <a:ext cx="3008376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3000" b="1">
                <a:solidFill>
                  <a:srgbClr val="69E7CE"/>
                </a:solidFill>
                <a:latin typeface="Microsoft YaHei"/>
                <a:ea typeface="Microsoft YaHei"/>
                <a:cs typeface="Arial"/>
              </a:rPr>
              <a:t>120 BPM</a:t>
            </a:r>
            <a:endParaRPr lang="zh-CN" sz="3000"/>
          </a:p>
        </p:txBody>
      </p:sp>
      <p:sp>
        <p:nvSpPr>
          <p:cNvPr id="8" name="文本 8"/>
          <p:cNvSpPr txBox="1"/>
          <p:nvPr/>
        </p:nvSpPr>
        <p:spPr>
          <a:xfrm>
            <a:off x="813816" y="3081528"/>
            <a:ext cx="3008376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1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听见并看见节拍</a:t>
            </a:r>
            <a:endParaRPr lang="zh-CN" sz="2100"/>
          </a:p>
        </p:txBody>
      </p:sp>
      <p:sp>
        <p:nvSpPr>
          <p:cNvPr id="9" name="文本 9"/>
          <p:cNvSpPr txBox="1"/>
          <p:nvPr/>
        </p:nvSpPr>
        <p:spPr>
          <a:xfrm>
            <a:off x="813816" y="3776472"/>
            <a:ext cx="3008376" cy="96926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8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四拍灯与收缩光环</a:t>
            </a:r>
            <a:endParaRPr lang="zh-CN" sz="1800"/>
          </a:p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8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帮助预判下一拍</a:t>
            </a:r>
            <a:endParaRPr lang="zh-CN" sz="1800"/>
          </a:p>
        </p:txBody>
      </p:sp>
      <p:sp>
        <p:nvSpPr>
          <p:cNvPr id="10" name="文本 10"/>
          <p:cNvSpPr txBox="1"/>
          <p:nvPr/>
        </p:nvSpPr>
        <p:spPr>
          <a:xfrm>
            <a:off x="813816" y="5093208"/>
            <a:ext cx="3008376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2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准确 ±80 ms · 良好 ±150 ms</a:t>
            </a:r>
            <a:endParaRPr lang="zh-CN" sz="1200"/>
          </a:p>
        </p:txBody>
      </p:sp>
      <p:sp>
        <p:nvSpPr>
          <p:cNvPr id="11" name="图形 11"/>
          <p:cNvSpPr/>
          <p:nvPr/>
        </p:nvSpPr>
        <p:spPr>
          <a:xfrm>
            <a:off x="4370832" y="1938528"/>
            <a:ext cx="3447288" cy="3639312"/>
          </a:xfrm>
          <a:prstGeom prst="roundRect">
            <a:avLst/>
          </a:prstGeom>
          <a:solidFill>
            <a:srgbClr val="102732"/>
          </a:solidFill>
          <a:ln w="12700">
            <a:noFill/>
          </a:ln>
        </p:spPr>
      </p:sp>
      <p:sp>
        <p:nvSpPr>
          <p:cNvPr id="12" name="文本 12"/>
          <p:cNvSpPr txBox="1"/>
          <p:nvPr/>
        </p:nvSpPr>
        <p:spPr>
          <a:xfrm>
            <a:off x="4590288" y="2267712"/>
            <a:ext cx="3008376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30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随时可跳</a:t>
            </a:r>
            <a:endParaRPr lang="zh-CN" sz="3000"/>
          </a:p>
        </p:txBody>
      </p:sp>
      <p:sp>
        <p:nvSpPr>
          <p:cNvPr id="13" name="文本 13"/>
          <p:cNvSpPr txBox="1"/>
          <p:nvPr/>
        </p:nvSpPr>
        <p:spPr>
          <a:xfrm>
            <a:off x="4590288" y="3081528"/>
            <a:ext cx="3008376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1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从安全平台再尝试</a:t>
            </a:r>
            <a:endParaRPr lang="zh-CN" sz="2100"/>
          </a:p>
        </p:txBody>
      </p:sp>
      <p:sp>
        <p:nvSpPr>
          <p:cNvPr id="14" name="文本 14"/>
          <p:cNvSpPr txBox="1"/>
          <p:nvPr/>
        </p:nvSpPr>
        <p:spPr>
          <a:xfrm>
            <a:off x="4590288" y="3776472"/>
            <a:ext cx="3008376" cy="96926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8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无需额外按键确认落地</a:t>
            </a:r>
            <a:endParaRPr lang="zh-CN" sz="1800"/>
          </a:p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8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同高度起落约两拍</a:t>
            </a:r>
            <a:endParaRPr lang="zh-CN" sz="1800"/>
          </a:p>
        </p:txBody>
      </p:sp>
      <p:sp>
        <p:nvSpPr>
          <p:cNvPr id="15" name="文本 15"/>
          <p:cNvSpPr txBox="1"/>
          <p:nvPr/>
        </p:nvSpPr>
        <p:spPr>
          <a:xfrm>
            <a:off x="4590288" y="5093208"/>
            <a:ext cx="3008376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2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先观察，再选择时机</a:t>
            </a:r>
            <a:endParaRPr lang="zh-CN" sz="1200"/>
          </a:p>
        </p:txBody>
      </p:sp>
      <p:sp>
        <p:nvSpPr>
          <p:cNvPr id="16" name="图形 16"/>
          <p:cNvSpPr/>
          <p:nvPr/>
        </p:nvSpPr>
        <p:spPr>
          <a:xfrm>
            <a:off x="8147304" y="1938528"/>
            <a:ext cx="3447288" cy="3639312"/>
          </a:xfrm>
          <a:prstGeom prst="roundRect">
            <a:avLst/>
          </a:prstGeom>
          <a:solidFill>
            <a:srgbClr val="102732"/>
          </a:solidFill>
          <a:ln w="12700">
            <a:noFill/>
          </a:ln>
        </p:spPr>
      </p:sp>
      <p:sp>
        <p:nvSpPr>
          <p:cNvPr id="17" name="文本 17"/>
          <p:cNvSpPr txBox="1"/>
          <p:nvPr/>
        </p:nvSpPr>
        <p:spPr>
          <a:xfrm>
            <a:off x="8366760" y="2267712"/>
            <a:ext cx="3008376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3000" b="1">
                <a:solidFill>
                  <a:srgbClr val="F5C96D"/>
                </a:solidFill>
                <a:latin typeface="Microsoft YaHei"/>
                <a:ea typeface="Microsoft YaHei"/>
                <a:cs typeface="Arial"/>
              </a:rPr>
              <a:t>提前一拍</a:t>
            </a:r>
            <a:endParaRPr lang="zh-CN" sz="3000"/>
          </a:p>
        </p:txBody>
      </p:sp>
      <p:sp>
        <p:nvSpPr>
          <p:cNvPr id="18" name="文本 18"/>
          <p:cNvSpPr txBox="1"/>
          <p:nvPr/>
        </p:nvSpPr>
        <p:spPr>
          <a:xfrm>
            <a:off x="8366760" y="3081528"/>
            <a:ext cx="3008376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1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激光给出预警</a:t>
            </a:r>
            <a:endParaRPr lang="zh-CN" sz="2100"/>
          </a:p>
        </p:txBody>
      </p:sp>
      <p:sp>
        <p:nvSpPr>
          <p:cNvPr id="19" name="文本 19"/>
          <p:cNvSpPr txBox="1"/>
          <p:nvPr/>
        </p:nvSpPr>
        <p:spPr>
          <a:xfrm>
            <a:off x="8366760" y="3776472"/>
            <a:ext cx="3008376" cy="96926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8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虚线预警不造成伤害</a:t>
            </a:r>
            <a:endParaRPr lang="zh-CN" sz="1800"/>
          </a:p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8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随后一拍进入危险阶段</a:t>
            </a:r>
            <a:endParaRPr lang="zh-CN" sz="1800"/>
          </a:p>
        </p:txBody>
      </p:sp>
      <p:sp>
        <p:nvSpPr>
          <p:cNvPr id="20" name="文本 20"/>
          <p:cNvSpPr txBox="1"/>
          <p:nvPr/>
        </p:nvSpPr>
        <p:spPr>
          <a:xfrm>
            <a:off x="8366760" y="5093208"/>
            <a:ext cx="3008376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2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观察预警，再决定前进</a:t>
            </a:r>
            <a:endParaRPr lang="zh-CN" sz="1200"/>
          </a:p>
        </p:txBody>
      </p:sp>
      <p:sp>
        <p:nvSpPr>
          <p:cNvPr id="21" name="文本 21"/>
          <p:cNvSpPr txBox="1"/>
          <p:nvPr/>
        </p:nvSpPr>
        <p:spPr>
          <a:xfrm>
            <a:off x="594360" y="5907024"/>
            <a:ext cx="10972800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200" b="1">
                <a:solidFill>
                  <a:srgbClr val="69E7CE"/>
                </a:solidFill>
                <a:latin typeface="Microsoft YaHei"/>
                <a:ea typeface="Microsoft YaHei"/>
                <a:cs typeface="Arial"/>
              </a:rPr>
              <a:t>听音乐  →  看提示  →  选时机  →  起跳落桥</a:t>
            </a:r>
            <a:endParaRPr lang="zh-CN" sz="2200"/>
          </a:p>
        </p:txBody>
      </p:sp>
      <p:sp>
        <p:nvSpPr>
          <p:cNvPr id="22" name="文本 22"/>
          <p:cNvSpPr txBox="1"/>
          <p:nvPr/>
        </p:nvSpPr>
        <p:spPr>
          <a:xfrm>
            <a:off x="594360" y="6583680"/>
            <a:ext cx="73152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9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TREADLIGHT  /  踏光：两拍回响</a:t>
            </a:r>
            <a:endParaRPr lang="zh-CN" sz="900"/>
          </a:p>
        </p:txBody>
      </p:sp>
      <p:sp>
        <p:nvSpPr>
          <p:cNvPr id="23" name="文本 23"/>
          <p:cNvSpPr txBox="1"/>
          <p:nvPr/>
        </p:nvSpPr>
        <p:spPr>
          <a:xfrm>
            <a:off x="10835640" y="6583680"/>
            <a:ext cx="768096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9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04 / 08</a:t>
            </a:r>
            <a:endParaRPr lang="zh-CN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 2"/>
          <p:cNvSpPr txBox="1"/>
          <p:nvPr/>
        </p:nvSpPr>
        <p:spPr>
          <a:xfrm>
            <a:off x="594360" y="228600"/>
            <a:ext cx="105156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100" b="1">
                <a:solidFill>
                  <a:srgbClr val="69E7CE"/>
                </a:solidFill>
                <a:latin typeface="Microsoft YaHei"/>
                <a:ea typeface="Microsoft YaHei"/>
                <a:cs typeface="Arial"/>
              </a:rPr>
              <a:t>04 / 关卡递进</a:t>
            </a:r>
            <a:endParaRPr lang="zh-CN" sz="1100"/>
          </a:p>
        </p:txBody>
      </p:sp>
      <p:sp>
        <p:nvSpPr>
          <p:cNvPr id="3" name="文本 3"/>
          <p:cNvSpPr txBox="1"/>
          <p:nvPr/>
        </p:nvSpPr>
        <p:spPr>
          <a:xfrm>
            <a:off x="594360" y="694944"/>
            <a:ext cx="10972800" cy="60350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32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三个房间，把学会的操作串起来</a:t>
            </a:r>
            <a:endParaRPr lang="zh-CN" sz="3200"/>
          </a:p>
        </p:txBody>
      </p:sp>
      <p:sp>
        <p:nvSpPr>
          <p:cNvPr id="4" name="文本 4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7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保持 120 BPM，通过空间布局与机关组合增加挑战</a:t>
            </a:r>
            <a:endParaRPr lang="zh-CN" sz="1700"/>
          </a:p>
        </p:txBody>
      </p:sp>
      <p:sp>
        <p:nvSpPr>
          <p:cNvPr id="5" name="图形 5"/>
          <p:cNvSpPr/>
          <p:nvPr/>
        </p:nvSpPr>
        <p:spPr>
          <a:xfrm>
            <a:off x="594360" y="6446520"/>
            <a:ext cx="11000232" cy="10973"/>
          </a:xfrm>
          <a:prstGeom prst="rect">
            <a:avLst/>
          </a:prstGeom>
          <a:solidFill>
            <a:srgbClr val="294651"/>
          </a:solidFill>
          <a:ln w="12700">
            <a:noFill/>
          </a:ln>
        </p:spPr>
      </p:sp>
      <p:sp>
        <p:nvSpPr>
          <p:cNvPr id="6" name="图形 6"/>
          <p:cNvSpPr/>
          <p:nvPr/>
        </p:nvSpPr>
        <p:spPr>
          <a:xfrm>
            <a:off x="594360" y="1938528"/>
            <a:ext cx="3447288" cy="4133088"/>
          </a:xfrm>
          <a:prstGeom prst="roundRect">
            <a:avLst/>
          </a:prstGeom>
          <a:solidFill>
            <a:srgbClr val="102732"/>
          </a:solidFill>
          <a:ln w="12700">
            <a:noFill/>
          </a:ln>
        </p:spPr>
      </p:sp>
      <p:sp>
        <p:nvSpPr>
          <p:cNvPr id="7" name="文本 7"/>
          <p:cNvSpPr txBox="1"/>
          <p:nvPr/>
        </p:nvSpPr>
        <p:spPr>
          <a:xfrm>
            <a:off x="822960" y="2185416"/>
            <a:ext cx="1828800" cy="57607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3600" b="1">
                <a:solidFill>
                  <a:srgbClr val="69E7CE"/>
                </a:solidFill>
                <a:latin typeface="Microsoft YaHei"/>
                <a:ea typeface="Microsoft YaHei"/>
                <a:cs typeface="Arial"/>
              </a:rPr>
              <a:t>01</a:t>
            </a:r>
            <a:endParaRPr lang="zh-CN" sz="3600"/>
          </a:p>
        </p:txBody>
      </p:sp>
      <p:sp>
        <p:nvSpPr>
          <p:cNvPr id="8" name="文本 8"/>
          <p:cNvSpPr txBox="1"/>
          <p:nvPr/>
        </p:nvSpPr>
        <p:spPr>
          <a:xfrm>
            <a:off x="822960" y="2971800"/>
            <a:ext cx="2990088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5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唤醒余音</a:t>
            </a:r>
            <a:endParaRPr lang="zh-CN" sz="2500"/>
          </a:p>
        </p:txBody>
      </p:sp>
      <p:sp>
        <p:nvSpPr>
          <p:cNvPr id="9" name="文本 9"/>
          <p:cNvSpPr txBox="1"/>
          <p:nvPr/>
        </p:nvSpPr>
        <p:spPr>
          <a:xfrm>
            <a:off x="822960" y="3703320"/>
            <a:ext cx="2990088" cy="7315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7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先学会造路，再学会留光</a:t>
            </a:r>
            <a:endParaRPr lang="zh-CN" sz="1700"/>
          </a:p>
        </p:txBody>
      </p:sp>
      <p:sp>
        <p:nvSpPr>
          <p:cNvPr id="10" name="文本 10"/>
          <p:cNvSpPr txBox="1"/>
          <p:nvPr/>
        </p:nvSpPr>
        <p:spPr>
          <a:xfrm>
            <a:off x="822960" y="4626864"/>
            <a:ext cx="2990088" cy="35661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600" b="0">
                <a:solidFill>
                  <a:srgbClr val="69E7CE"/>
                </a:solidFill>
                <a:latin typeface="Microsoft YaHei"/>
                <a:ea typeface="Microsoft YaHei"/>
                <a:cs typeface="Arial"/>
              </a:rPr>
              <a:t>1 座光桥 · 无激光</a:t>
            </a:r>
            <a:endParaRPr lang="zh-CN" sz="1600"/>
          </a:p>
        </p:txBody>
      </p:sp>
      <p:sp>
        <p:nvSpPr>
          <p:cNvPr id="11" name="文本 11"/>
          <p:cNvSpPr txBox="1"/>
          <p:nvPr/>
        </p:nvSpPr>
        <p:spPr>
          <a:xfrm>
            <a:off x="822960" y="5276088"/>
            <a:ext cx="2990088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0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理解完整修复</a:t>
            </a:r>
            <a:endParaRPr lang="zh-CN" sz="2000"/>
          </a:p>
        </p:txBody>
      </p:sp>
      <p:sp>
        <p:nvSpPr>
          <p:cNvPr id="12" name="图形 12"/>
          <p:cNvSpPr/>
          <p:nvPr/>
        </p:nvSpPr>
        <p:spPr>
          <a:xfrm>
            <a:off x="4370832" y="1938528"/>
            <a:ext cx="3447288" cy="4133088"/>
          </a:xfrm>
          <a:prstGeom prst="roundRect">
            <a:avLst/>
          </a:prstGeom>
          <a:solidFill>
            <a:srgbClr val="102732"/>
          </a:solidFill>
          <a:ln w="12700">
            <a:noFill/>
          </a:ln>
        </p:spPr>
      </p:sp>
      <p:sp>
        <p:nvSpPr>
          <p:cNvPr id="13" name="文本 13"/>
          <p:cNvSpPr txBox="1"/>
          <p:nvPr/>
        </p:nvSpPr>
        <p:spPr>
          <a:xfrm>
            <a:off x="4599432" y="2185416"/>
            <a:ext cx="1828800" cy="57607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36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02</a:t>
            </a:r>
            <a:endParaRPr lang="zh-CN" sz="3600"/>
          </a:p>
        </p:txBody>
      </p:sp>
      <p:sp>
        <p:nvSpPr>
          <p:cNvPr id="14" name="文本 14"/>
          <p:cNvSpPr txBox="1"/>
          <p:nvPr/>
        </p:nvSpPr>
        <p:spPr>
          <a:xfrm>
            <a:off x="4599432" y="2971800"/>
            <a:ext cx="2990088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5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让光留下</a:t>
            </a:r>
            <a:endParaRPr lang="zh-CN" sz="2500"/>
          </a:p>
        </p:txBody>
      </p:sp>
      <p:sp>
        <p:nvSpPr>
          <p:cNvPr id="15" name="文本 15"/>
          <p:cNvSpPr txBox="1"/>
          <p:nvPr/>
        </p:nvSpPr>
        <p:spPr>
          <a:xfrm>
            <a:off x="4599432" y="3703320"/>
            <a:ext cx="2990088" cy="7315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7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在等待与前进之间选择</a:t>
            </a:r>
            <a:endParaRPr lang="zh-CN" sz="1700"/>
          </a:p>
        </p:txBody>
      </p:sp>
      <p:sp>
        <p:nvSpPr>
          <p:cNvPr id="16" name="文本 16"/>
          <p:cNvSpPr txBox="1"/>
          <p:nvPr/>
        </p:nvSpPr>
        <p:spPr>
          <a:xfrm>
            <a:off x="4599432" y="4626864"/>
            <a:ext cx="2990088" cy="35661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600" b="0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1 座光桥 · 2 处激光</a:t>
            </a:r>
            <a:endParaRPr lang="zh-CN" sz="1600"/>
          </a:p>
        </p:txBody>
      </p:sp>
      <p:sp>
        <p:nvSpPr>
          <p:cNvPr id="17" name="文本 17"/>
          <p:cNvSpPr txBox="1"/>
          <p:nvPr/>
        </p:nvSpPr>
        <p:spPr>
          <a:xfrm>
            <a:off x="4599432" y="5276088"/>
            <a:ext cx="2990088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0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加入危险时机</a:t>
            </a:r>
            <a:endParaRPr lang="zh-CN" sz="2000"/>
          </a:p>
        </p:txBody>
      </p:sp>
      <p:sp>
        <p:nvSpPr>
          <p:cNvPr id="18" name="图形 18"/>
          <p:cNvSpPr/>
          <p:nvPr/>
        </p:nvSpPr>
        <p:spPr>
          <a:xfrm>
            <a:off x="8147304" y="1938528"/>
            <a:ext cx="3447288" cy="4133088"/>
          </a:xfrm>
          <a:prstGeom prst="roundRect">
            <a:avLst/>
          </a:prstGeom>
          <a:solidFill>
            <a:srgbClr val="102732"/>
          </a:solidFill>
          <a:ln w="12700">
            <a:noFill/>
          </a:ln>
        </p:spPr>
      </p:sp>
      <p:sp>
        <p:nvSpPr>
          <p:cNvPr id="19" name="文本 19"/>
          <p:cNvSpPr txBox="1"/>
          <p:nvPr/>
        </p:nvSpPr>
        <p:spPr>
          <a:xfrm>
            <a:off x="8375904" y="2185416"/>
            <a:ext cx="1828800" cy="57607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3600" b="1">
                <a:solidFill>
                  <a:srgbClr val="F5C96D"/>
                </a:solidFill>
                <a:latin typeface="Microsoft YaHei"/>
                <a:ea typeface="Microsoft YaHei"/>
                <a:cs typeface="Arial"/>
              </a:rPr>
              <a:t>03</a:t>
            </a:r>
            <a:endParaRPr lang="zh-CN" sz="3600"/>
          </a:p>
        </p:txBody>
      </p:sp>
      <p:sp>
        <p:nvSpPr>
          <p:cNvPr id="20" name="文本 20"/>
          <p:cNvSpPr txBox="1"/>
          <p:nvPr/>
        </p:nvSpPr>
        <p:spPr>
          <a:xfrm>
            <a:off x="8375904" y="2971800"/>
            <a:ext cx="2990088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5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接续回响</a:t>
            </a:r>
            <a:endParaRPr lang="zh-CN" sz="2500"/>
          </a:p>
        </p:txBody>
      </p:sp>
      <p:sp>
        <p:nvSpPr>
          <p:cNvPr id="21" name="文本 21"/>
          <p:cNvSpPr txBox="1"/>
          <p:nvPr/>
        </p:nvSpPr>
        <p:spPr>
          <a:xfrm>
            <a:off x="8375904" y="3703320"/>
            <a:ext cx="2990088" cy="7315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7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把两段起落连成通路</a:t>
            </a:r>
            <a:endParaRPr lang="zh-CN" sz="1700"/>
          </a:p>
        </p:txBody>
      </p:sp>
      <p:sp>
        <p:nvSpPr>
          <p:cNvPr id="22" name="文本 22"/>
          <p:cNvSpPr txBox="1"/>
          <p:nvPr/>
        </p:nvSpPr>
        <p:spPr>
          <a:xfrm>
            <a:off x="8375904" y="4626864"/>
            <a:ext cx="2990088" cy="35661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600" b="0">
                <a:solidFill>
                  <a:srgbClr val="F5C96D"/>
                </a:solidFill>
                <a:latin typeface="Microsoft YaHei"/>
                <a:ea typeface="Microsoft YaHei"/>
                <a:cs typeface="Arial"/>
              </a:rPr>
              <a:t>2 座光桥 · 2 处激光</a:t>
            </a:r>
            <a:endParaRPr lang="zh-CN" sz="1600"/>
          </a:p>
        </p:txBody>
      </p:sp>
      <p:sp>
        <p:nvSpPr>
          <p:cNvPr id="23" name="文本 23"/>
          <p:cNvSpPr txBox="1"/>
          <p:nvPr/>
        </p:nvSpPr>
        <p:spPr>
          <a:xfrm>
            <a:off x="8375904" y="5276088"/>
            <a:ext cx="2990088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0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连续完成共鸣</a:t>
            </a:r>
            <a:endParaRPr lang="zh-CN" sz="2000"/>
          </a:p>
        </p:txBody>
      </p:sp>
      <p:sp>
        <p:nvSpPr>
          <p:cNvPr id="24" name="文本 24"/>
          <p:cNvSpPr txBox="1"/>
          <p:nvPr/>
        </p:nvSpPr>
        <p:spPr>
          <a:xfrm>
            <a:off x="594360" y="6583680"/>
            <a:ext cx="73152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9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TREADLIGHT  /  踏光：两拍回响</a:t>
            </a:r>
            <a:endParaRPr lang="zh-CN" sz="900"/>
          </a:p>
        </p:txBody>
      </p:sp>
      <p:sp>
        <p:nvSpPr>
          <p:cNvPr id="25" name="文本 25"/>
          <p:cNvSpPr txBox="1"/>
          <p:nvPr/>
        </p:nvSpPr>
        <p:spPr>
          <a:xfrm>
            <a:off x="10835640" y="6583680"/>
            <a:ext cx="768096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9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05 / 08</a:t>
            </a:r>
            <a:endParaRPr lang="zh-CN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 2"/>
          <p:cNvSpPr txBox="1"/>
          <p:nvPr/>
        </p:nvSpPr>
        <p:spPr>
          <a:xfrm>
            <a:off x="594360" y="228600"/>
            <a:ext cx="105156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100" b="1">
                <a:solidFill>
                  <a:srgbClr val="69E7CE"/>
                </a:solidFill>
                <a:latin typeface="Microsoft YaHei"/>
                <a:ea typeface="Microsoft YaHei"/>
                <a:cs typeface="Arial"/>
              </a:rPr>
              <a:t>05 / 音画与实现</a:t>
            </a:r>
            <a:endParaRPr lang="zh-CN" sz="1100"/>
          </a:p>
        </p:txBody>
      </p:sp>
      <p:sp>
        <p:nvSpPr>
          <p:cNvPr id="3" name="文本 3"/>
          <p:cNvSpPr txBox="1"/>
          <p:nvPr/>
        </p:nvSpPr>
        <p:spPr>
          <a:xfrm>
            <a:off x="594360" y="694944"/>
            <a:ext cx="10972800" cy="60350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32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让节拍看得见、听得到</a:t>
            </a:r>
            <a:endParaRPr lang="zh-CN" sz="3200"/>
          </a:p>
        </p:txBody>
      </p:sp>
      <p:sp>
        <p:nvSpPr>
          <p:cNvPr id="4" name="文本 4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7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声音、动作与机关，共用同一套时间</a:t>
            </a:r>
            <a:endParaRPr lang="zh-CN" sz="1700"/>
          </a:p>
        </p:txBody>
      </p:sp>
      <p:sp>
        <p:nvSpPr>
          <p:cNvPr id="5" name="图形 5"/>
          <p:cNvSpPr/>
          <p:nvPr/>
        </p:nvSpPr>
        <p:spPr>
          <a:xfrm>
            <a:off x="594360" y="6446520"/>
            <a:ext cx="11000232" cy="10973"/>
          </a:xfrm>
          <a:prstGeom prst="rect">
            <a:avLst/>
          </a:prstGeom>
          <a:solidFill>
            <a:srgbClr val="294651"/>
          </a:solidFill>
          <a:ln w="12700">
            <a:noFill/>
          </a:ln>
        </p:spPr>
      </p:sp>
      <p:pic>
        <p:nvPicPr>
          <p:cNvPr id="6" name="实际游戏截图 6" descr="落拍固定后的金桥"/>
          <p:cNvPicPr>
            <a:picLocks noChangeAspect="1"/>
          </p:cNvPicPr>
          <p:nvPr/>
        </p:nvPicPr>
        <p:blipFill>
          <a:blip r:embed="img_restored"/>
          <a:stretch>
            <a:fillRect/>
          </a:stretch>
        </p:blipFill>
        <p:spPr>
          <a:xfrm>
            <a:off x="594360" y="1956816"/>
            <a:ext cx="6035040" cy="3394710"/>
          </a:xfrm>
          <a:prstGeom prst="rect">
            <a:avLst/>
          </a:prstGeom>
          <a:ln>
            <a:noFill/>
          </a:ln>
        </p:spPr>
      </p:pic>
      <p:sp>
        <p:nvSpPr>
          <p:cNvPr id="7" name="图形 7"/>
          <p:cNvSpPr/>
          <p:nvPr/>
        </p:nvSpPr>
        <p:spPr>
          <a:xfrm>
            <a:off x="7022592" y="1993392"/>
            <a:ext cx="4572000" cy="932688"/>
          </a:xfrm>
          <a:prstGeom prst="roundRect">
            <a:avLst/>
          </a:prstGeom>
          <a:solidFill>
            <a:srgbClr val="102732"/>
          </a:solidFill>
          <a:ln w="12700">
            <a:noFill/>
          </a:ln>
        </p:spPr>
      </p:sp>
      <p:sp>
        <p:nvSpPr>
          <p:cNvPr id="8" name="文本 8"/>
          <p:cNvSpPr txBox="1"/>
          <p:nvPr/>
        </p:nvSpPr>
        <p:spPr>
          <a:xfrm>
            <a:off x="7251192" y="2112264"/>
            <a:ext cx="4114800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100" b="1">
                <a:solidFill>
                  <a:srgbClr val="69E7CE"/>
                </a:solidFill>
                <a:latin typeface="Microsoft YaHei"/>
                <a:ea typeface="Microsoft YaHei"/>
                <a:cs typeface="Arial"/>
              </a:rPr>
              <a:t>青色 / 金色</a:t>
            </a:r>
            <a:endParaRPr lang="zh-CN" sz="2100"/>
          </a:p>
        </p:txBody>
      </p:sp>
      <p:sp>
        <p:nvSpPr>
          <p:cNvPr id="9" name="文本 9"/>
          <p:cNvSpPr txBox="1"/>
          <p:nvPr/>
        </p:nvSpPr>
        <p:spPr>
          <a:xfrm>
            <a:off x="7251192" y="2532888"/>
            <a:ext cx="411480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6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临时通路与已固定道路</a:t>
            </a:r>
            <a:endParaRPr lang="zh-CN" sz="1600"/>
          </a:p>
        </p:txBody>
      </p:sp>
      <p:sp>
        <p:nvSpPr>
          <p:cNvPr id="10" name="图形 10"/>
          <p:cNvSpPr/>
          <p:nvPr/>
        </p:nvSpPr>
        <p:spPr>
          <a:xfrm>
            <a:off x="7022592" y="3118104"/>
            <a:ext cx="4572000" cy="932688"/>
          </a:xfrm>
          <a:prstGeom prst="roundRect">
            <a:avLst/>
          </a:prstGeom>
          <a:solidFill>
            <a:srgbClr val="102732"/>
          </a:solidFill>
          <a:ln w="12700">
            <a:noFill/>
          </a:ln>
        </p:spPr>
      </p:sp>
      <p:sp>
        <p:nvSpPr>
          <p:cNvPr id="11" name="文本 11"/>
          <p:cNvSpPr txBox="1"/>
          <p:nvPr/>
        </p:nvSpPr>
        <p:spPr>
          <a:xfrm>
            <a:off x="7251192" y="3236976"/>
            <a:ext cx="4114800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100" b="1">
                <a:solidFill>
                  <a:srgbClr val="F5C96D"/>
                </a:solidFill>
                <a:latin typeface="Microsoft YaHei"/>
                <a:ea typeface="Microsoft YaHei"/>
                <a:cs typeface="Arial"/>
              </a:rPr>
              <a:t>光环 / 节拍灯</a:t>
            </a:r>
            <a:endParaRPr lang="zh-CN" sz="2100"/>
          </a:p>
        </p:txBody>
      </p:sp>
      <p:sp>
        <p:nvSpPr>
          <p:cNvPr id="12" name="文本 12"/>
          <p:cNvSpPr txBox="1"/>
          <p:nvPr/>
        </p:nvSpPr>
        <p:spPr>
          <a:xfrm>
            <a:off x="7251192" y="3657600"/>
            <a:ext cx="411480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6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用视觉补充音乐提示</a:t>
            </a:r>
            <a:endParaRPr lang="zh-CN" sz="1600"/>
          </a:p>
        </p:txBody>
      </p:sp>
      <p:sp>
        <p:nvSpPr>
          <p:cNvPr id="13" name="图形 13"/>
          <p:cNvSpPr/>
          <p:nvPr/>
        </p:nvSpPr>
        <p:spPr>
          <a:xfrm>
            <a:off x="7022592" y="4242816"/>
            <a:ext cx="4572000" cy="932688"/>
          </a:xfrm>
          <a:prstGeom prst="roundRect">
            <a:avLst/>
          </a:prstGeom>
          <a:solidFill>
            <a:srgbClr val="102732"/>
          </a:solidFill>
          <a:ln w="12700">
            <a:noFill/>
          </a:ln>
        </p:spPr>
      </p:sp>
      <p:sp>
        <p:nvSpPr>
          <p:cNvPr id="14" name="文本 14"/>
          <p:cNvSpPr txBox="1"/>
          <p:nvPr/>
        </p:nvSpPr>
        <p:spPr>
          <a:xfrm>
            <a:off x="7251192" y="4361688"/>
            <a:ext cx="4114800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1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统一节拍时钟</a:t>
            </a:r>
            <a:endParaRPr lang="zh-CN" sz="2100"/>
          </a:p>
        </p:txBody>
      </p:sp>
      <p:sp>
        <p:nvSpPr>
          <p:cNvPr id="15" name="文本 15"/>
          <p:cNvSpPr txBox="1"/>
          <p:nvPr/>
        </p:nvSpPr>
        <p:spPr>
          <a:xfrm>
            <a:off x="7251192" y="4782312"/>
            <a:ext cx="411480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6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同步判定、机关与画面</a:t>
            </a:r>
            <a:endParaRPr lang="zh-CN" sz="1600"/>
          </a:p>
        </p:txBody>
      </p:sp>
      <p:sp>
        <p:nvSpPr>
          <p:cNvPr id="16" name="文本 16"/>
          <p:cNvSpPr txBox="1"/>
          <p:nvPr/>
        </p:nvSpPr>
        <p:spPr>
          <a:xfrm>
            <a:off x="594360" y="5687568"/>
            <a:ext cx="10972800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900" b="0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Godot 4.4.1  /  GDScript  /  几何绘制  /  循环配乐</a:t>
            </a:r>
            <a:endParaRPr lang="zh-CN" sz="1900"/>
          </a:p>
        </p:txBody>
      </p:sp>
      <p:sp>
        <p:nvSpPr>
          <p:cNvPr id="17" name="文本 17"/>
          <p:cNvSpPr txBox="1"/>
          <p:nvPr/>
        </p:nvSpPr>
        <p:spPr>
          <a:xfrm>
            <a:off x="594360" y="6135624"/>
            <a:ext cx="10972800" cy="24688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4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支持判定校准，适配不同设备上的节拍感受。</a:t>
            </a:r>
            <a:endParaRPr lang="zh-CN" sz="1400"/>
          </a:p>
        </p:txBody>
      </p:sp>
      <p:sp>
        <p:nvSpPr>
          <p:cNvPr id="18" name="文本 18"/>
          <p:cNvSpPr txBox="1"/>
          <p:nvPr/>
        </p:nvSpPr>
        <p:spPr>
          <a:xfrm>
            <a:off x="594360" y="6583680"/>
            <a:ext cx="73152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9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TREADLIGHT  /  踏光：两拍回响</a:t>
            </a:r>
            <a:endParaRPr lang="zh-CN" sz="900"/>
          </a:p>
        </p:txBody>
      </p:sp>
      <p:sp>
        <p:nvSpPr>
          <p:cNvPr id="19" name="文本 19"/>
          <p:cNvSpPr txBox="1"/>
          <p:nvPr/>
        </p:nvSpPr>
        <p:spPr>
          <a:xfrm>
            <a:off x="10835640" y="6583680"/>
            <a:ext cx="768096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9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06 / 08</a:t>
            </a:r>
            <a:endParaRPr lang="zh-CN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 2"/>
          <p:cNvSpPr txBox="1"/>
          <p:nvPr/>
        </p:nvSpPr>
        <p:spPr>
          <a:xfrm>
            <a:off x="594360" y="228600"/>
            <a:ext cx="105156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100" b="1">
                <a:solidFill>
                  <a:srgbClr val="69E7CE"/>
                </a:solidFill>
                <a:latin typeface="Microsoft YaHei"/>
                <a:ea typeface="Microsoft YaHei"/>
                <a:cs typeface="Arial"/>
              </a:rPr>
              <a:t>06 / 当前成果</a:t>
            </a:r>
            <a:endParaRPr lang="zh-CN" sz="1100"/>
          </a:p>
        </p:txBody>
      </p:sp>
      <p:sp>
        <p:nvSpPr>
          <p:cNvPr id="3" name="文本 3"/>
          <p:cNvSpPr txBox="1"/>
          <p:nvPr/>
        </p:nvSpPr>
        <p:spPr>
          <a:xfrm>
            <a:off x="594360" y="694944"/>
            <a:ext cx="10972800" cy="60350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32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可玩的完整流程，三人的协作</a:t>
            </a:r>
            <a:endParaRPr lang="zh-CN" sz="3200"/>
          </a:p>
        </p:txBody>
      </p:sp>
      <p:sp>
        <p:nvSpPr>
          <p:cNvPr id="4" name="文本 4"/>
          <p:cNvSpPr txBox="1"/>
          <p:nvPr/>
        </p:nvSpPr>
        <p:spPr>
          <a:xfrm>
            <a:off x="594360" y="1353312"/>
            <a:ext cx="10972800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7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当前版本 v0.2 · 协作安排以 A / B / C 代称</a:t>
            </a:r>
            <a:endParaRPr lang="zh-CN" sz="1700"/>
          </a:p>
        </p:txBody>
      </p:sp>
      <p:sp>
        <p:nvSpPr>
          <p:cNvPr id="5" name="图形 5"/>
          <p:cNvSpPr/>
          <p:nvPr/>
        </p:nvSpPr>
        <p:spPr>
          <a:xfrm>
            <a:off x="594360" y="6446520"/>
            <a:ext cx="11000232" cy="10973"/>
          </a:xfrm>
          <a:prstGeom prst="rect">
            <a:avLst/>
          </a:prstGeom>
          <a:solidFill>
            <a:srgbClr val="294651"/>
          </a:solidFill>
          <a:ln w="12700">
            <a:noFill/>
          </a:ln>
        </p:spPr>
      </p:sp>
      <p:sp>
        <p:nvSpPr>
          <p:cNvPr id="6" name="图形 6"/>
          <p:cNvSpPr/>
          <p:nvPr/>
        </p:nvSpPr>
        <p:spPr>
          <a:xfrm>
            <a:off x="594360" y="1965960"/>
            <a:ext cx="4901184" cy="4160520"/>
          </a:xfrm>
          <a:prstGeom prst="roundRect">
            <a:avLst/>
          </a:prstGeom>
          <a:solidFill>
            <a:srgbClr val="102732"/>
          </a:solidFill>
          <a:ln w="12700">
            <a:noFill/>
          </a:ln>
        </p:spPr>
      </p:sp>
      <p:sp>
        <p:nvSpPr>
          <p:cNvPr id="7" name="文本 7"/>
          <p:cNvSpPr txBox="1"/>
          <p:nvPr/>
        </p:nvSpPr>
        <p:spPr>
          <a:xfrm>
            <a:off x="832104" y="2221992"/>
            <a:ext cx="4425696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400" b="1">
                <a:solidFill>
                  <a:srgbClr val="69E7CE"/>
                </a:solidFill>
                <a:latin typeface="Microsoft YaHei"/>
                <a:ea typeface="Microsoft YaHei"/>
                <a:cs typeface="Arial"/>
              </a:rPr>
              <a:t>当前可玩版本</a:t>
            </a:r>
            <a:endParaRPr lang="zh-CN" sz="2400"/>
          </a:p>
        </p:txBody>
      </p:sp>
      <p:sp>
        <p:nvSpPr>
          <p:cNvPr id="8" name="文本 8"/>
          <p:cNvSpPr txBox="1"/>
          <p:nvPr/>
        </p:nvSpPr>
        <p:spPr>
          <a:xfrm>
            <a:off x="832104" y="2926080"/>
            <a:ext cx="4425696" cy="1600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300" b="0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三房间  ·  规则教学</a:t>
            </a:r>
            <a:endParaRPr lang="zh-CN" sz="2300"/>
          </a:p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300" b="0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暂停继续  ·  失败重试</a:t>
            </a:r>
            <a:endParaRPr lang="zh-CN" sz="2300"/>
          </a:p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300" b="0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计分反馈  ·  通关结算</a:t>
            </a:r>
            <a:endParaRPr lang="zh-CN" sz="2300"/>
          </a:p>
        </p:txBody>
      </p:sp>
      <p:sp>
        <p:nvSpPr>
          <p:cNvPr id="9" name="文本 9"/>
          <p:cNvSpPr txBox="1"/>
          <p:nvPr/>
        </p:nvSpPr>
        <p:spPr>
          <a:xfrm>
            <a:off x="832104" y="5029200"/>
            <a:ext cx="4425696" cy="7772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7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54 项现有自动检查</a:t>
            </a:r>
            <a:endParaRPr lang="zh-CN" sz="1700"/>
          </a:p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7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Windows 启动已验证</a:t>
            </a:r>
            <a:endParaRPr lang="zh-CN" sz="1700"/>
          </a:p>
        </p:txBody>
      </p:sp>
      <p:sp>
        <p:nvSpPr>
          <p:cNvPr id="10" name="图形 10"/>
          <p:cNvSpPr/>
          <p:nvPr/>
        </p:nvSpPr>
        <p:spPr>
          <a:xfrm>
            <a:off x="5879592" y="1965960"/>
            <a:ext cx="5715000" cy="1234440"/>
          </a:xfrm>
          <a:prstGeom prst="roundRect">
            <a:avLst/>
          </a:prstGeom>
          <a:solidFill>
            <a:srgbClr val="102732"/>
          </a:solidFill>
          <a:ln w="12700">
            <a:noFill/>
          </a:ln>
        </p:spPr>
      </p:sp>
      <p:sp>
        <p:nvSpPr>
          <p:cNvPr id="11" name="文本 11"/>
          <p:cNvSpPr txBox="1"/>
          <p:nvPr/>
        </p:nvSpPr>
        <p:spPr>
          <a:xfrm>
            <a:off x="6117336" y="2194560"/>
            <a:ext cx="585216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3200" b="1">
                <a:solidFill>
                  <a:srgbClr val="69E7CE"/>
                </a:solidFill>
                <a:latin typeface="Microsoft YaHei"/>
                <a:ea typeface="Microsoft YaHei"/>
                <a:cs typeface="Arial"/>
              </a:rPr>
              <a:t>A</a:t>
            </a:r>
            <a:endParaRPr lang="zh-CN" sz="3200"/>
          </a:p>
        </p:txBody>
      </p:sp>
      <p:sp>
        <p:nvSpPr>
          <p:cNvPr id="12" name="文本 12"/>
          <p:cNvSpPr txBox="1"/>
          <p:nvPr/>
        </p:nvSpPr>
        <p:spPr>
          <a:xfrm>
            <a:off x="6931152" y="2130552"/>
            <a:ext cx="4389120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2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程序与版本</a:t>
            </a:r>
            <a:endParaRPr lang="zh-CN" sz="2200"/>
          </a:p>
        </p:txBody>
      </p:sp>
      <p:sp>
        <p:nvSpPr>
          <p:cNvPr id="13" name="文本 13"/>
          <p:cNvSpPr txBox="1"/>
          <p:nvPr/>
        </p:nvSpPr>
        <p:spPr>
          <a:xfrm>
            <a:off x="6931152" y="2688336"/>
            <a:ext cx="4389120" cy="32918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6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程序实现 · 版本管理 · 整体统筹</a:t>
            </a:r>
            <a:endParaRPr lang="zh-CN" sz="1600"/>
          </a:p>
        </p:txBody>
      </p:sp>
      <p:sp>
        <p:nvSpPr>
          <p:cNvPr id="14" name="图形 14"/>
          <p:cNvSpPr/>
          <p:nvPr/>
        </p:nvSpPr>
        <p:spPr>
          <a:xfrm>
            <a:off x="5879592" y="3383280"/>
            <a:ext cx="5715000" cy="1234440"/>
          </a:xfrm>
          <a:prstGeom prst="roundRect">
            <a:avLst/>
          </a:prstGeom>
          <a:solidFill>
            <a:srgbClr val="102732"/>
          </a:solidFill>
          <a:ln w="12700">
            <a:noFill/>
          </a:ln>
        </p:spPr>
      </p:sp>
      <p:sp>
        <p:nvSpPr>
          <p:cNvPr id="15" name="文本 15"/>
          <p:cNvSpPr txBox="1"/>
          <p:nvPr/>
        </p:nvSpPr>
        <p:spPr>
          <a:xfrm>
            <a:off x="6117336" y="3611880"/>
            <a:ext cx="585216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32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B</a:t>
            </a:r>
            <a:endParaRPr lang="zh-CN" sz="3200"/>
          </a:p>
        </p:txBody>
      </p:sp>
      <p:sp>
        <p:nvSpPr>
          <p:cNvPr id="16" name="文本 16"/>
          <p:cNvSpPr txBox="1"/>
          <p:nvPr/>
        </p:nvSpPr>
        <p:spPr>
          <a:xfrm>
            <a:off x="6931152" y="3547872"/>
            <a:ext cx="4389120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2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玩法与交互</a:t>
            </a:r>
            <a:endParaRPr lang="zh-CN" sz="2200"/>
          </a:p>
        </p:txBody>
      </p:sp>
      <p:sp>
        <p:nvSpPr>
          <p:cNvPr id="17" name="文本 17"/>
          <p:cNvSpPr txBox="1"/>
          <p:nvPr/>
        </p:nvSpPr>
        <p:spPr>
          <a:xfrm>
            <a:off x="6931152" y="4105656"/>
            <a:ext cx="4389120" cy="32918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6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关卡设计 · 教学引导 · 视觉表现</a:t>
            </a:r>
            <a:endParaRPr lang="zh-CN" sz="1600"/>
          </a:p>
        </p:txBody>
      </p:sp>
      <p:sp>
        <p:nvSpPr>
          <p:cNvPr id="18" name="图形 18"/>
          <p:cNvSpPr/>
          <p:nvPr/>
        </p:nvSpPr>
        <p:spPr>
          <a:xfrm>
            <a:off x="5879592" y="4800600"/>
            <a:ext cx="5715000" cy="1234440"/>
          </a:xfrm>
          <a:prstGeom prst="roundRect">
            <a:avLst/>
          </a:prstGeom>
          <a:solidFill>
            <a:srgbClr val="102732"/>
          </a:solidFill>
          <a:ln w="12700">
            <a:noFill/>
          </a:ln>
        </p:spPr>
      </p:sp>
      <p:sp>
        <p:nvSpPr>
          <p:cNvPr id="19" name="文本 19"/>
          <p:cNvSpPr txBox="1"/>
          <p:nvPr/>
        </p:nvSpPr>
        <p:spPr>
          <a:xfrm>
            <a:off x="6117336" y="5029200"/>
            <a:ext cx="585216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3200" b="1">
                <a:solidFill>
                  <a:srgbClr val="F5C96D"/>
                </a:solidFill>
                <a:latin typeface="Microsoft YaHei"/>
                <a:ea typeface="Microsoft YaHei"/>
                <a:cs typeface="Arial"/>
              </a:rPr>
              <a:t>C</a:t>
            </a:r>
            <a:endParaRPr lang="zh-CN" sz="3200"/>
          </a:p>
        </p:txBody>
      </p:sp>
      <p:sp>
        <p:nvSpPr>
          <p:cNvPr id="20" name="文本 20"/>
          <p:cNvSpPr txBox="1"/>
          <p:nvPr/>
        </p:nvSpPr>
        <p:spPr>
          <a:xfrm>
            <a:off x="6931152" y="4965192"/>
            <a:ext cx="4389120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2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声音与材料</a:t>
            </a:r>
            <a:endParaRPr lang="zh-CN" sz="2200"/>
          </a:p>
        </p:txBody>
      </p:sp>
      <p:sp>
        <p:nvSpPr>
          <p:cNvPr id="21" name="文本 21"/>
          <p:cNvSpPr txBox="1"/>
          <p:nvPr/>
        </p:nvSpPr>
        <p:spPr>
          <a:xfrm>
            <a:off x="6931152" y="5522976"/>
            <a:ext cx="4389120" cy="32918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6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音频整理 · 测试 · 展示材料</a:t>
            </a:r>
            <a:endParaRPr lang="zh-CN" sz="1600"/>
          </a:p>
        </p:txBody>
      </p:sp>
      <p:sp>
        <p:nvSpPr>
          <p:cNvPr id="22" name="文本 22"/>
          <p:cNvSpPr txBox="1"/>
          <p:nvPr/>
        </p:nvSpPr>
        <p:spPr>
          <a:xfrm>
            <a:off x="594360" y="6236208"/>
            <a:ext cx="1097280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1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下一步：共同完成独立设备试玩，继续调整手感与提示。</a:t>
            </a:r>
            <a:endParaRPr lang="zh-CN" sz="1100"/>
          </a:p>
        </p:txBody>
      </p:sp>
      <p:sp>
        <p:nvSpPr>
          <p:cNvPr id="23" name="文本 23"/>
          <p:cNvSpPr txBox="1"/>
          <p:nvPr/>
        </p:nvSpPr>
        <p:spPr>
          <a:xfrm>
            <a:off x="594360" y="6583680"/>
            <a:ext cx="73152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9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TREADLIGHT  /  踏光：两拍回响</a:t>
            </a:r>
            <a:endParaRPr lang="zh-CN" sz="900"/>
          </a:p>
        </p:txBody>
      </p:sp>
      <p:sp>
        <p:nvSpPr>
          <p:cNvPr id="24" name="文本 24"/>
          <p:cNvSpPr txBox="1"/>
          <p:nvPr/>
        </p:nvSpPr>
        <p:spPr>
          <a:xfrm>
            <a:off x="10835640" y="6583680"/>
            <a:ext cx="768096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9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07 / 08</a:t>
            </a:r>
            <a:endParaRPr lang="zh-CN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 2"/>
          <p:cNvSpPr txBox="1"/>
          <p:nvPr/>
        </p:nvSpPr>
        <p:spPr>
          <a:xfrm>
            <a:off x="594360" y="228600"/>
            <a:ext cx="105156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100" b="1">
                <a:solidFill>
                  <a:srgbClr val="69E7CE"/>
                </a:solidFill>
                <a:latin typeface="Microsoft YaHei"/>
                <a:ea typeface="Microsoft YaHei"/>
                <a:cs typeface="Arial"/>
              </a:rPr>
              <a:t>TREADLIGHT / 踏光：两拍回响</a:t>
            </a:r>
            <a:endParaRPr lang="zh-CN" sz="1100"/>
          </a:p>
        </p:txBody>
      </p:sp>
      <p:sp>
        <p:nvSpPr>
          <p:cNvPr id="3" name="图形 3"/>
          <p:cNvSpPr/>
          <p:nvPr/>
        </p:nvSpPr>
        <p:spPr>
          <a:xfrm>
            <a:off x="594360" y="6446520"/>
            <a:ext cx="11000232" cy="10973"/>
          </a:xfrm>
          <a:prstGeom prst="rect">
            <a:avLst/>
          </a:prstGeom>
          <a:solidFill>
            <a:srgbClr val="294651"/>
          </a:solidFill>
          <a:ln w="12700">
            <a:noFill/>
          </a:ln>
        </p:spPr>
      </p:sp>
      <p:sp>
        <p:nvSpPr>
          <p:cNvPr id="4" name="文本 4"/>
          <p:cNvSpPr txBox="1"/>
          <p:nvPr/>
        </p:nvSpPr>
        <p:spPr>
          <a:xfrm>
            <a:off x="594360" y="1417320"/>
            <a:ext cx="6583680" cy="18745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43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让走过的路，</a:t>
            </a:r>
            <a:endParaRPr lang="zh-CN" sz="4300"/>
          </a:p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4300" b="1">
                <a:solidFill>
                  <a:srgbClr val="EDF5F4"/>
                </a:solidFill>
                <a:latin typeface="Microsoft YaHei"/>
                <a:ea typeface="Microsoft YaHei"/>
                <a:cs typeface="Arial"/>
              </a:rPr>
              <a:t>留下光。</a:t>
            </a:r>
            <a:endParaRPr lang="zh-CN" sz="4300"/>
          </a:p>
        </p:txBody>
      </p:sp>
      <p:sp>
        <p:nvSpPr>
          <p:cNvPr id="5" name="文本 5"/>
          <p:cNvSpPr txBox="1"/>
          <p:nvPr/>
        </p:nvSpPr>
        <p:spPr>
          <a:xfrm>
            <a:off x="594360" y="3767328"/>
            <a:ext cx="6583680" cy="502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500" b="1">
                <a:solidFill>
                  <a:srgbClr val="69E7CE"/>
                </a:solidFill>
                <a:latin typeface="Microsoft YaHei"/>
                <a:ea typeface="Microsoft YaHei"/>
                <a:cs typeface="Arial"/>
              </a:rPr>
              <a:t>让“律动”成为改变道路的规则</a:t>
            </a:r>
            <a:endParaRPr lang="zh-CN" sz="2500"/>
          </a:p>
        </p:txBody>
      </p:sp>
      <p:sp>
        <p:nvSpPr>
          <p:cNvPr id="6" name="文本 6"/>
          <p:cNvSpPr txBox="1"/>
          <p:nvPr/>
        </p:nvSpPr>
        <p:spPr>
          <a:xfrm>
            <a:off x="594360" y="4864608"/>
            <a:ext cx="457200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400" b="0">
                <a:solidFill>
                  <a:srgbClr val="F5C96D"/>
                </a:solidFill>
                <a:latin typeface="Microsoft YaHei"/>
                <a:ea typeface="Microsoft YaHei"/>
                <a:cs typeface="Arial"/>
              </a:rPr>
              <a:t>谢谢大家</a:t>
            </a:r>
            <a:endParaRPr lang="zh-CN" sz="2400"/>
          </a:p>
        </p:txBody>
      </p:sp>
      <p:sp>
        <p:nvSpPr>
          <p:cNvPr id="7" name="文本 7"/>
          <p:cNvSpPr txBox="1"/>
          <p:nvPr/>
        </p:nvSpPr>
        <p:spPr>
          <a:xfrm>
            <a:off x="594360" y="5843016"/>
            <a:ext cx="8229600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16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试玩与源码  github.com/xunraozhou/treadlight</a:t>
            </a:r>
            <a:endParaRPr lang="zh-CN" sz="1600"/>
          </a:p>
        </p:txBody>
      </p:sp>
      <p:sp>
        <p:nvSpPr>
          <p:cNvPr id="8" name="图形 8"/>
          <p:cNvSpPr/>
          <p:nvPr/>
        </p:nvSpPr>
        <p:spPr>
          <a:xfrm>
            <a:off x="7955280" y="4480560"/>
            <a:ext cx="1188720" cy="731520"/>
          </a:xfrm>
          <a:prstGeom prst="rect">
            <a:avLst/>
          </a:prstGeom>
          <a:solidFill>
            <a:srgbClr val="102732"/>
          </a:solidFill>
          <a:ln w="12700">
            <a:noFill/>
          </a:ln>
        </p:spPr>
      </p:sp>
      <p:sp>
        <p:nvSpPr>
          <p:cNvPr id="9" name="图形 9"/>
          <p:cNvSpPr/>
          <p:nvPr/>
        </p:nvSpPr>
        <p:spPr>
          <a:xfrm>
            <a:off x="10378440" y="4480560"/>
            <a:ext cx="1216152" cy="731520"/>
          </a:xfrm>
          <a:prstGeom prst="rect">
            <a:avLst/>
          </a:prstGeom>
          <a:solidFill>
            <a:srgbClr val="102732"/>
          </a:solidFill>
          <a:ln w="12700">
            <a:noFill/>
          </a:ln>
        </p:spPr>
      </p:sp>
      <p:sp>
        <p:nvSpPr>
          <p:cNvPr id="10" name="图形 10"/>
          <p:cNvSpPr/>
          <p:nvPr/>
        </p:nvSpPr>
        <p:spPr>
          <a:xfrm>
            <a:off x="9144000" y="4480560"/>
            <a:ext cx="1234440" cy="91440"/>
          </a:xfrm>
          <a:prstGeom prst="rect">
            <a:avLst/>
          </a:prstGeom>
          <a:solidFill>
            <a:srgbClr val="F5C96D"/>
          </a:solidFill>
          <a:ln w="12700">
            <a:noFill/>
          </a:ln>
        </p:spPr>
      </p:sp>
      <p:sp>
        <p:nvSpPr>
          <p:cNvPr id="11" name="图形 11"/>
          <p:cNvSpPr/>
          <p:nvPr/>
        </p:nvSpPr>
        <p:spPr>
          <a:xfrm>
            <a:off x="9440266" y="4663440"/>
            <a:ext cx="64008" cy="64008"/>
          </a:xfrm>
          <a:prstGeom prst="ellipse">
            <a:avLst/>
          </a:prstGeom>
          <a:solidFill>
            <a:srgbClr val="F5C96D"/>
          </a:solidFill>
          <a:ln w="12700">
            <a:noFill/>
          </a:ln>
        </p:spPr>
      </p:sp>
      <p:sp>
        <p:nvSpPr>
          <p:cNvPr id="12" name="图形 12"/>
          <p:cNvSpPr/>
          <p:nvPr/>
        </p:nvSpPr>
        <p:spPr>
          <a:xfrm>
            <a:off x="9604858" y="4663440"/>
            <a:ext cx="64008" cy="64008"/>
          </a:xfrm>
          <a:prstGeom prst="ellipse">
            <a:avLst/>
          </a:prstGeom>
          <a:solidFill>
            <a:srgbClr val="F5C96D"/>
          </a:solidFill>
          <a:ln w="12700">
            <a:noFill/>
          </a:ln>
        </p:spPr>
      </p:sp>
      <p:sp>
        <p:nvSpPr>
          <p:cNvPr id="13" name="图形 13"/>
          <p:cNvSpPr/>
          <p:nvPr/>
        </p:nvSpPr>
        <p:spPr>
          <a:xfrm>
            <a:off x="9769450" y="4663440"/>
            <a:ext cx="64008" cy="64008"/>
          </a:xfrm>
          <a:prstGeom prst="ellipse">
            <a:avLst/>
          </a:prstGeom>
          <a:solidFill>
            <a:srgbClr val="F5C96D"/>
          </a:solidFill>
          <a:ln w="12700">
            <a:noFill/>
          </a:ln>
        </p:spPr>
      </p:sp>
      <p:sp>
        <p:nvSpPr>
          <p:cNvPr id="14" name="图形 14"/>
          <p:cNvSpPr/>
          <p:nvPr/>
        </p:nvSpPr>
        <p:spPr>
          <a:xfrm>
            <a:off x="9934042" y="4663440"/>
            <a:ext cx="64008" cy="64008"/>
          </a:xfrm>
          <a:prstGeom prst="ellipse">
            <a:avLst/>
          </a:prstGeom>
          <a:solidFill>
            <a:srgbClr val="F5C96D"/>
          </a:solidFill>
          <a:ln w="12700">
            <a:noFill/>
          </a:ln>
        </p:spPr>
      </p:sp>
      <p:sp>
        <p:nvSpPr>
          <p:cNvPr id="15" name="图形 15"/>
          <p:cNvSpPr/>
          <p:nvPr/>
        </p:nvSpPr>
        <p:spPr>
          <a:xfrm>
            <a:off x="9582912" y="3895344"/>
            <a:ext cx="274320" cy="512064"/>
          </a:xfrm>
          <a:prstGeom prst="rect">
            <a:avLst/>
          </a:prstGeom>
          <a:solidFill>
            <a:srgbClr val="69E7CE"/>
          </a:solidFill>
          <a:ln w="12700">
            <a:noFill/>
          </a:ln>
        </p:spPr>
      </p:sp>
      <p:sp>
        <p:nvSpPr>
          <p:cNvPr id="16" name="图形 16"/>
          <p:cNvSpPr/>
          <p:nvPr/>
        </p:nvSpPr>
        <p:spPr>
          <a:xfrm>
            <a:off x="9637776" y="3977640"/>
            <a:ext cx="118872" cy="64008"/>
          </a:xfrm>
          <a:prstGeom prst="rect">
            <a:avLst/>
          </a:prstGeom>
          <a:solidFill>
            <a:srgbClr val="081720"/>
          </a:solidFill>
          <a:ln w="12700">
            <a:noFill/>
          </a:ln>
        </p:spPr>
      </p:sp>
      <p:sp>
        <p:nvSpPr>
          <p:cNvPr id="17" name="图形 17"/>
          <p:cNvSpPr/>
          <p:nvPr/>
        </p:nvSpPr>
        <p:spPr>
          <a:xfrm>
            <a:off x="9299448" y="3602736"/>
            <a:ext cx="841248" cy="841248"/>
          </a:xfrm>
          <a:prstGeom prst="ellipse">
            <a:avLst/>
          </a:prstGeom>
          <a:noFill/>
          <a:ln w="12700">
            <a:solidFill>
              <a:srgbClr val="F5C96D"/>
            </a:solidFill>
          </a:ln>
        </p:spPr>
      </p:sp>
      <p:sp>
        <p:nvSpPr>
          <p:cNvPr id="18" name="文本 18"/>
          <p:cNvSpPr txBox="1"/>
          <p:nvPr/>
        </p:nvSpPr>
        <p:spPr>
          <a:xfrm>
            <a:off x="7955280" y="1938528"/>
            <a:ext cx="3639312" cy="12344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700" b="1">
                <a:solidFill>
                  <a:srgbClr val="F5C96D"/>
                </a:solidFill>
                <a:latin typeface="Microsoft YaHei"/>
                <a:ea typeface="Microsoft YaHei"/>
                <a:cs typeface="Arial"/>
              </a:rPr>
              <a:t>起跳造路</a:t>
            </a:r>
            <a:endParaRPr lang="zh-CN" sz="2700"/>
          </a:p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2700" b="1">
                <a:solidFill>
                  <a:srgbClr val="F5C96D"/>
                </a:solidFill>
                <a:latin typeface="Microsoft YaHei"/>
                <a:ea typeface="Microsoft YaHei"/>
                <a:cs typeface="Arial"/>
              </a:rPr>
              <a:t>落拍留光</a:t>
            </a:r>
            <a:endParaRPr lang="zh-CN" sz="2700"/>
          </a:p>
        </p:txBody>
      </p:sp>
      <p:sp>
        <p:nvSpPr>
          <p:cNvPr id="19" name="文本 19"/>
          <p:cNvSpPr txBox="1"/>
          <p:nvPr/>
        </p:nvSpPr>
        <p:spPr>
          <a:xfrm>
            <a:off x="594360" y="6583680"/>
            <a:ext cx="7315200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9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TREADLIGHT  /  踏光：两拍回响</a:t>
            </a:r>
            <a:endParaRPr lang="zh-CN" sz="900"/>
          </a:p>
        </p:txBody>
      </p:sp>
      <p:sp>
        <p:nvSpPr>
          <p:cNvPr id="20" name="文本 20"/>
          <p:cNvSpPr txBox="1"/>
          <p:nvPr/>
        </p:nvSpPr>
        <p:spPr>
          <a:xfrm>
            <a:off x="10835640" y="6583680"/>
            <a:ext cx="768096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5000"/>
              </a:lnSpc>
              <a:spcAft>
                <a:spcPts val="200"/>
              </a:spcAft>
            </a:pPr>
            <a:r>
              <a:rPr lang="zh-CN" sz="900" b="0">
                <a:solidFill>
                  <a:srgbClr val="A3BAC5"/>
                </a:solidFill>
                <a:latin typeface="Microsoft YaHei"/>
                <a:ea typeface="Microsoft YaHei"/>
                <a:cs typeface="Arial"/>
              </a:rPr>
              <a:t>08 / 08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eadlight">
  <a:themeElements>
    <a:clrScheme name="Treadlight">
      <a:dk1>
        <a:srgbClr val="081720"/>
      </a:dk1>
      <a:lt1>
        <a:srgbClr val="EDF5F4"/>
      </a:lt1>
      <a:dk2>
        <a:srgbClr val="102732"/>
      </a:dk2>
      <a:lt2>
        <a:srgbClr val="A3BAC5"/>
      </a:lt2>
      <a:accent1>
        <a:srgbClr val="69E7CE"/>
      </a:accent1>
      <a:accent2>
        <a:srgbClr val="F5C96D"/>
      </a:accent2>
      <a:accent3>
        <a:srgbClr val="FF879D"/>
      </a:accent3>
      <a:accent4>
        <a:srgbClr val="294651"/>
      </a:accent4>
      <a:accent5>
        <a:srgbClr val="79AFC8"/>
      </a:accent5>
      <a:accent6>
        <a:srgbClr val="B9A2E8"/>
      </a:accent6>
      <a:hlink>
        <a:srgbClr val="69E7CE"/>
      </a:hlink>
      <a:folHlink>
        <a:srgbClr val="F5C96D"/>
      </a:folHlink>
    </a:clrScheme>
    <a:fontScheme name="Treadlight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Treadligh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踏光：两拍回响｜项目介绍</dc:title>
  <dc:subject>起跳造路，落拍留光</dc:subject>
  <dc:creator>Treadlight</dc:creator>
  <dc:description>8页项目介绍，配套约4分10秒逐页讲稿。团队成员以A/B/C代称。</dc:description>
  <dcterms:created xsi:type="dcterms:W3CDTF">2026-10-23T08:00:00Z</dcterms:created>
</cp:coreProperties>
</file>