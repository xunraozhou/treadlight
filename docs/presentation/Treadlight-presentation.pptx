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4412b767324443d" /><Relationship Type="http://schemas.openxmlformats.org/officeDocument/2006/relationships/extended-properties" Target="/docProps/app.xml" Id="R2ece027c1a214de6" /><Relationship Type="http://schemas.openxmlformats.org/officeDocument/2006/relationships/officeDocument" Target="/ppt/presentation.xml" Id="Rf30107c344e340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1ebe747ec04002"/>
  </p:sldMasterIdLst>
  <p:notesMasterIdLst>
    <p:notesMasterId xmlns:r="http://schemas.openxmlformats.org/officeDocument/2006/relationships" r:id="Rd07cdf8291bd47c5"/>
  </p:notesMasterIdLst>
  <p:sldIdLst>
    <p:sldId xmlns:r="http://schemas.openxmlformats.org/officeDocument/2006/relationships" id="256" r:id="R70961155902740a8"/>
    <p:sldId xmlns:r="http://schemas.openxmlformats.org/officeDocument/2006/relationships" id="257" r:id="R60afc9e172ca460f"/>
    <p:sldId xmlns:r="http://schemas.openxmlformats.org/officeDocument/2006/relationships" id="258" r:id="Rbe912f3e64b44c6a"/>
    <p:sldId xmlns:r="http://schemas.openxmlformats.org/officeDocument/2006/relationships" id="259" r:id="R3a5b5ec556324d64"/>
    <p:sldId xmlns:r="http://schemas.openxmlformats.org/officeDocument/2006/relationships" id="260" r:id="Rff35fd82d2fd42d5"/>
    <p:sldId xmlns:r="http://schemas.openxmlformats.org/officeDocument/2006/relationships" id="261" r:id="R0287b5930ff54c0a"/>
    <p:sldId xmlns:r="http://schemas.openxmlformats.org/officeDocument/2006/relationships" id="262" r:id="R14803a5719664312"/>
    <p:sldId xmlns:r="http://schemas.openxmlformats.org/officeDocument/2006/relationships" id="263" r:id="Re5611767f395454b"/>
  </p:sldIdLst>
  <p:sldSz cx="12192000" cy="6858000"/>
  <p:notesSz cx="6858000" cy="9144000"/>
  <p:defaultTextStyle>
    <a:defPPr xmlns:a="http://schemas.openxmlformats.org/drawingml/2006/main">
      <a:buNone/>
    </a:def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27321181c24ae3" /><Relationship Type="http://schemas.openxmlformats.org/officeDocument/2006/relationships/slideMaster" Target="/ppt/slideMasters/slideMaster1.xml" Id="Rcf1ebe747ec04002" /><Relationship Type="http://schemas.openxmlformats.org/officeDocument/2006/relationships/notesMaster" Target="/ppt/notesMasters/notesMaster1.xml" Id="Rd07cdf8291bd47c5" /><Relationship Type="http://schemas.openxmlformats.org/officeDocument/2006/relationships/presProps" Target="/ppt/presProps.xml" Id="R0153791c40b24ab9" /><Relationship Type="http://schemas.openxmlformats.org/officeDocument/2006/relationships/tableStyles" Target="/ppt/tableStyles.xml" Id="R5efd0f3e573f4898" /><Relationship Type="http://schemas.openxmlformats.org/officeDocument/2006/relationships/slide" Target="/ppt/slides/slide1.xml" Id="R70961155902740a8" /><Relationship Type="http://schemas.openxmlformats.org/officeDocument/2006/relationships/slide" Target="/ppt/slides/slide2.xml" Id="R60afc9e172ca460f" /><Relationship Type="http://schemas.openxmlformats.org/officeDocument/2006/relationships/slide" Target="/ppt/slides/slide3.xml" Id="Rbe912f3e64b44c6a" /><Relationship Type="http://schemas.openxmlformats.org/officeDocument/2006/relationships/slide" Target="/ppt/slides/slide4.xml" Id="R3a5b5ec556324d64" /><Relationship Type="http://schemas.openxmlformats.org/officeDocument/2006/relationships/slide" Target="/ppt/slides/slide5.xml" Id="Rff35fd82d2fd42d5" /><Relationship Type="http://schemas.openxmlformats.org/officeDocument/2006/relationships/slide" Target="/ppt/slides/slide6.xml" Id="R0287b5930ff54c0a" /><Relationship Type="http://schemas.openxmlformats.org/officeDocument/2006/relationships/slide" Target="/ppt/slides/slide7.xml" Id="R14803a5719664312" /><Relationship Type="http://schemas.openxmlformats.org/officeDocument/2006/relationships/slide" Target="/ppt/slides/slide8.xml" Id="Re5611767f39545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56a9f542ea414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Treadlight">
  <a:themeElements>
    <a:clrScheme name="Treadlight">
      <a:dk1>
        <a:srgbClr val="081720"/>
      </a:dk1>
      <a:lt1>
        <a:srgbClr val="EDF5F4"/>
      </a:lt1>
      <a:dk2>
        <a:srgbClr val="102732"/>
      </a:dk2>
      <a:lt2>
        <a:srgbClr val="A3BAC5"/>
      </a:lt2>
      <a:accent1>
        <a:srgbClr val="69E7CE"/>
      </a:accent1>
      <a:accent2>
        <a:srgbClr val="F5C96D"/>
      </a:accent2>
      <a:accent3>
        <a:srgbClr val="FF879D"/>
      </a:accent3>
      <a:accent4>
        <a:srgbClr val="294651"/>
      </a:accent4>
      <a:accent5>
        <a:srgbClr val="79AFC8"/>
      </a:accent5>
      <a:accent6>
        <a:srgbClr val="B9A2E8"/>
      </a:accent6>
      <a:hlink>
        <a:srgbClr val="69E7CE"/>
      </a:hlink>
      <a:folHlink>
        <a:srgbClr val="F5C96D"/>
      </a:folHlink>
    </a:clrScheme>
    <a:fontScheme name="Treadlight">
      <a:majorFont>
        <a:latin typeface="Microsoft YaHei"/>
        <a:ea typeface="Microsoft YaHei"/>
        <a:cs typeface="Arial"/>
      </a:majorFont>
      <a:minorFont>
        <a:latin typeface="Microsoft YaHei"/>
        <a:ea typeface="Microsoft YaHei"/>
        <a:cs typeface="Arial"/>
      </a:minorFont>
    </a:fontScheme>
    <a:fmtScheme name="Treadligh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7291dde04024c9e" /><Relationship Type="http://schemas.openxmlformats.org/officeDocument/2006/relationships/notesMaster" Target="/ppt/notesMasters/notesMaster1.xml" Id="Rc662ef2c295c4ea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21ab97d4e1249ad" /><Relationship Type="http://schemas.openxmlformats.org/officeDocument/2006/relationships/notesMaster" Target="/ppt/notesMasters/notesMaster1.xml" Id="Ra3028c5e4ed1469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1cb38062f394e4d" /><Relationship Type="http://schemas.openxmlformats.org/officeDocument/2006/relationships/notesMaster" Target="/ppt/notesMasters/notesMaster1.xml" Id="Rbe4fd68414cc414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5d1b044d19c4873" /><Relationship Type="http://schemas.openxmlformats.org/officeDocument/2006/relationships/notesMaster" Target="/ppt/notesMasters/notesMaster1.xml" Id="R719ee2e496d24a8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b5ba5d6732438c" /><Relationship Type="http://schemas.openxmlformats.org/officeDocument/2006/relationships/notesMaster" Target="/ppt/notesMasters/notesMaster1.xml" Id="R2636de411b924d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1e11c6bb8dc4b34" /><Relationship Type="http://schemas.openxmlformats.org/officeDocument/2006/relationships/notesMaster" Target="/ppt/notesMasters/notesMaster1.xml" Id="R11585d03ef214e6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e6d527baba84c9b" /><Relationship Type="http://schemas.openxmlformats.org/officeDocument/2006/relationships/notesMaster" Target="/ppt/notesMasters/notesMaster1.xml" Id="R8b279a3a5a7b4a1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5c36f6d22bd488f" /><Relationship Type="http://schemas.openxmlformats.org/officeDocument/2006/relationships/notesMaster" Target="/ppt/notesMasters/notesMaster1.xml" Id="Re181cf50412f49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第 1 页｜踏光：两拍回响｜约 28 秒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大家好，我们的作品是《踏光：两拍回响》，一款以“律动”为核心的横向平台游戏。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它想表达一个简单的想法：一次踩准节拍的行动，可以让眼前的路亮起来；一次恰到好处的落地，则能让这束光留下来。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玩家要做的，就是在一来一回的节奏中，把破碎的道路重新连接起来。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【排练提示】开场看向观众；说完作品名略停顿。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素材来源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背景摄影：Taiki Ishikawa，Unsplash，https://unsplash.com/photos/a-dark-blue-background-with-lines-and-dots-jxyPuQXR6f0 。许可：https://unsplash.com/license 。仅作装饰背景，不是游戏截图。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第 2 页｜光之遗迹里的修复之旅｜约 24 秒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故事发生在一片失去光亮的空间。玩家控制一团微光，在安全平台、断开的桥梁和周期性激光之间前进。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我们把世界的变化交给玩家的动作：每修复一段光桥，环境就多一点颜色。所以通关的过程，也是在一点一点恢复这个空间。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【排练提示】指向“观察—造路—留光”示意，避免逐字读画面。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素材来源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线性图标：Lucide Icons and Contributors。https://lucide.dev/ ，完整 ISC / Feather MIT 许可见随附素材清单及 Lucide-LICENSE.txt。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图标：footprints、route、flag。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第 3 页｜起跳造路，落拍留光｜约 41 秒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核心玩法分为两步。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第一步是“起跳造路”。玩家在节拍附近真正从地面起跳，前方对应的光桥就会亮起，成为可以站立的平台，但只持续四拍。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第二步是“落拍留光”。如果玩家踩着节拍，实际落在这段光桥上，桥就会从青色变成金色，在本次尝试中持续保留，重开房间才会重置。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这样，起跳和落地都成为需要观察的时刻。玩家既要决定什么时候跳，也要判断落点在哪里。房间内所有光桥修复完成后，出口才会开启。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【排练提示】先指左图青桥，再指右图金桥；强调落地自动判定。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素材来源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游戏画面：本项目 Godot 实际渲染截图与已生成介绍视频帧。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第 4 页｜可以等待，也可以再次尝试｜约 41 秒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为了让节奏服务于操作，我们允许玩家随时普通跳跃，并保持普通起跳与踩拍起跳的高度一致。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当前音乐为一百二十 BPM，一次同高度的跳跃大约跨过两拍。系统提供“准确”和“良好”两档有效判定，屏幕上的四拍灯和角色周围的光圈，也会帮助玩家预判。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没有踩准时，玩家可以从安全平台重新尝试。激光则提前一拍显示预警，再进入危险状态，让玩家有时间观察和选择。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【排练提示】从左到右解释三组信息，不必读全部参数。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素材来源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线性图标：Lucide Icons and Contributors。https://lucide.dev/ ，完整 ISC / Feather MIT 许可见随附素材清单及 Lucide-LICENSE.txt。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图标：audio-lines、timer、triangle-alert。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第 5 页｜三个房间，逐步掌握｜约 31 秒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三个房间按照同一套规则逐步展开。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第一间“唤醒余音”只有一段光桥，没有激光，让玩家先理解起跳与落地的关系。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第二间“让光留下”加入有预警的激光，开始考验节奏和空间判断。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第三间“接续回响”组合两段光桥，需要连续完成修复。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我们用布局增加挑战，让玩家把前面学到的操作逐步串联起来。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【排练提示】按房间从左到右推进；突出规则复用。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素材来源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游戏画面：本项目 Godot 实际渲染截图与已生成介绍视频帧。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取自三个房间的介绍视频实录帧，分别为 02_room1/00240.png、03_room2/00300.png、04_room3/00500.png。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第 6 页｜听到的节拍，对应看见的反馈｜约 31 秒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视觉上，我们用暗色几何场景突出光的变化：青色表示暂时出现，金色表示已经修复，激光用明显的预警与危险状态区分。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音轨、判定、机关和提示共用节拍时钟，让听到的节奏与看到的反馈相互对应。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音频校准功能则用于调整不同设备上的听觉与操作时间差，让玩家更容易找到适合自己的节拍感觉。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【排练提示】指向截图中的金桥、节拍灯与校准值；实现只讲统一时钟。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素材来源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游戏画面：本项目 Godot 实际渲染截图与已生成介绍视频帧。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第 7 页｜当前成果与协作安排｜约 31 秒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当前版本已经具备三个房间、教程、暂停、重试、计分和通关结算，也完成了现有自动检查与 Windows 启动验证。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三人协作安排中，A 负责程序、版本和整体统筹；B 负责玩法、关卡、引导与视觉；C 负责音频、测试及展示材料。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后续重点是共同完成独立设备试玩，并依据实际反馈调整手感和提示。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【排练提示】用“协作安排”表述，不将拟定职责说成已核实的历史贡献。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素材来源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线性图标：Lucide Icons and Contributors。https://lucide.dev/ ，完整 ISC / Feather MIT 许可见随附素材清单及 Lucide-LICENSE.txt。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图标：code-xml、palette、headphones。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第 8 页｜让走过的路留下光｜约 23 秒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《踏光：两拍回响》希望让“律动”成为改变道路的规则。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玩家可以等待，可以尝试，也可以在掌握节奏后，连贯地把光桥一段段接起来。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我们希望最后留给玩家的感受是：刚才走过的路，因为自己的行动，真的亮了起来。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谢谢大家。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【排练提示】最后两句话放慢；结束后停顿，再致谢。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素材来源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背景摄影：Taiki Ishikawa，Unsplash，https://unsplash.com/photos/a-dark-blue-background-with-lines-and-dots-jxyPuQXR6f0 。许可：https://unsplash.com/license 。仅作装饰背景，不是游戏截图。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素材许可全文（不需朗读）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ISC License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Copyright (c) 2026 Lucide Icons and Contributors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Permission to use, copy, modify, and/or distribute this software for any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purpose with or without fee is hereby granted, provided that the above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copyright notice and this permission notice appear in all copies.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THE SOFTWARE IS PROVIDED "AS IS" AND THE AUTHOR DISCLAIMS ALL WARRANTIES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WITH REGARD TO THIS SOFTWARE INCLUDING ALL IMPLIED WARRANTIES OF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MERCHANTABILITY AND FITNESS. IN NO EVENT SHALL THE AUTHOR BE LIABLE FOR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ANY SPECIAL, DIRECT, INDIRECT, OR CONSEQUENTIAL DAMAGES OR ANY DAMAGES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WHATSOEVER RESULTING FROM LOSS OF USE, DATA OR PROFITS, WHETHER IN AN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ACTION OF CONTRACT, NEGLIGENCE OR OTHER TORTIOUS ACTION, ARISING OUT OF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OR IN CONNECTION WITH THE USE OR PERFORMANCE OF THIS SOFTWARE.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---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The following Lucide icons are derived from the Feather project: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airplay, alert-circle, alert-octagon, alert-triangle, aperture, arrow-down-circle, arrow-down-left, arrow-down-right, arrow-down, arrow-left-circle, arrow-left, arrow-right-circle, arrow-right, arrow-up-circle, arrow-up-left, arrow-up-right, arrow-up, at-sign, calendar, cast, check, chevron-down, chevron-left, chevron-right, chevron-up, chevrons-down, chevrons-left, chevrons-right, chevrons-up, circle, clipboard, clock, code, columns, command, compass, corner-down-left, corner-down-right, corner-left-down, corner-left-up, corner-right-down, corner-right-up, corner-up-left, corner-up-right, crosshair, database, divide-circle, divide-square, dollar-sign, download, external-link, feather, frown, hash, headphones, help-circle, info, italic, key, layout, life-buoy, link-2, link, loader, lock, log-in, log-out, maximize, meh, minimize, minimize-2, minus-circle, minus-square, minus, monitor, moon, more-horizontal, more-vertical, move, music, navigation-2, navigation, octagon, pause-circle, percent, plus-circle, plus-square, plus, power, radio, rss, search, server, share, shopping-bag, sidebar, smartphone, smile, square, table-2, tablet, target, terminal, trash-2, trash, triangle, tv, type, upload, x-circle, x-octagon, x-square, x, zoom-in, zoom-out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The MIT License (MIT) (for the icons listed above)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Copyright (c) 2013-present Cole Bemis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Permission is hereby granted, free of charge, to any person obtaining a copy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of this software and associated documentation files (the "Software"), to deal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in the Software without restriction, including without limitation the rights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to use, copy, modify, merge, publish, distribute, sublicense, and/or sell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copies of the Software, and to permit persons to whom the Software is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furnished to do so, subject to the following conditions: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The above copyright notice and this permission notice shall be included in all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copies or substantial portions of the Software.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THE SOFTWARE IS PROVIDED "AS IS", WITHOUT WARRANTY OF ANY KIND, EXPRESS OR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IMPLIED, INCLUDING BUT NOT LIMITED TO THE WARRANTIES OF MERCHANTABILITY,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FITNESS FOR A PARTICULAR PURPOSE AND NONINFRINGEMENT. IN NO EVENT SHALL THE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AUTHORS OR COPYRIGHT HOLDERS BE LIABLE FOR ANY CLAIM, DAMAGES OR OTHER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LIABILITY, WHETHER IN AN ACTION OF CONTRACT, TORT OR OTHERWISE, ARISING FROM,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OUT OF OR IN CONNECTION WITH THE SOFTWARE OR THE USE OR OTHER DEALINGS IN THE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>SOFTWARE.</a:t>
            </a:r>
          </a:p>
          <a:p xmlns:a="http://schemas.openxmlformats.org/drawingml/2006/main">
            <a:r>
              <a:rPr sz="1200"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e9cba698d643ef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824ce6f062f4ba8" /><Relationship Type="http://schemas.openxmlformats.org/officeDocument/2006/relationships/slideLayout" Target="/ppt/slideLayouts/slideLayout1.xml" Id="Rcac452ffe94a474b" /></Relationships>
</file>

<file path=ppt/slideMasters/slideMaster1.xml><?xml version="1.0" encoding="utf-8"?>
<p:sldMaster xmlns:p="http://schemas.openxmlformats.org/presentationml/2006/main">
  <p:cSld name="Tread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c452ffe94a474b"/>
  </p:sldLayoutIdLst>
  <p:txStyles>
    <p:titleStyle>
      <a:lvl1pPr xmlns:a="http://schemas.openxmlformats.org/drawingml/2006/main">
        <a:buNone/>
        <a:defRPr sz="3200"/>
      </a:lvl1pPr>
    </p:titleStyle>
    <p:bodyStyle>
      <a:lvl1pPr xmlns:a="http://schemas.openxmlformats.org/drawingml/2006/main">
        <a:buNone/>
        <a:defRPr sz="2000"/>
      </a:lvl1pPr>
    </p:bodyStyle>
  </p:txStyles>
</p:sldMaster>
</file>

<file path=ppt/slideMasters/theme/theme2.xml><?xml version="1.0" encoding="utf-8"?>
<a:theme xmlns:a="http://schemas.openxmlformats.org/drawingml/2006/main" name="Treadlight">
  <a:themeElements>
    <a:clrScheme name="Treadlight">
      <a:dk1>
        <a:srgbClr val="081720"/>
      </a:dk1>
      <a:lt1>
        <a:srgbClr val="EDF5F4"/>
      </a:lt1>
      <a:dk2>
        <a:srgbClr val="102732"/>
      </a:dk2>
      <a:lt2>
        <a:srgbClr val="A3BAC5"/>
      </a:lt2>
      <a:accent1>
        <a:srgbClr val="69E7CE"/>
      </a:accent1>
      <a:accent2>
        <a:srgbClr val="F5C96D"/>
      </a:accent2>
      <a:accent3>
        <a:srgbClr val="FF879D"/>
      </a:accent3>
      <a:accent4>
        <a:srgbClr val="294651"/>
      </a:accent4>
      <a:accent5>
        <a:srgbClr val="79AFC8"/>
      </a:accent5>
      <a:accent6>
        <a:srgbClr val="B9A2E8"/>
      </a:accent6>
      <a:hlink>
        <a:srgbClr val="69E7CE"/>
      </a:hlink>
      <a:folHlink>
        <a:srgbClr val="F5C96D"/>
      </a:folHlink>
    </a:clrScheme>
    <a:fontScheme name="Treadlight">
      <a:majorFont>
        <a:latin typeface="Microsoft YaHei"/>
        <a:ea typeface="Microsoft YaHei"/>
        <a:cs typeface="Arial"/>
      </a:majorFont>
      <a:minorFont>
        <a:latin typeface="Microsoft YaHei"/>
        <a:ea typeface="Microsoft YaHei"/>
        <a:cs typeface="Arial"/>
      </a:minorFont>
    </a:fontScheme>
    <a:fmtScheme name="Treadligh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5fc1723cc542a3" /><Relationship Type="http://schemas.openxmlformats.org/officeDocument/2006/relationships/image" Target="/ppt/media/image.jpeg" Id="Ree6e40732ca744be" /><Relationship Type="http://schemas.openxmlformats.org/officeDocument/2006/relationships/notesSlide" Target="/ppt/notesSlides/notesSlide1.xml" Id="Rbc9bd10229b2454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a666144b844230" /><Relationship Type="http://schemas.openxmlformats.org/officeDocument/2006/relationships/image" Target="/ppt/media/image.png" Id="Rfd5444b75a54400e" /><Relationship Type="http://schemas.openxmlformats.org/officeDocument/2006/relationships/image" Target="/ppt/media/image.svg" Id="Rcbe0e2046f734118" /><Relationship Type="http://schemas.openxmlformats.org/officeDocument/2006/relationships/image" Target="/ppt/media/image2.png" Id="R5e26f7fc17374e4f" /><Relationship Type="http://schemas.openxmlformats.org/officeDocument/2006/relationships/image" Target="/ppt/media/image2.svg" Id="R2937fd2257d64377" /><Relationship Type="http://schemas.openxmlformats.org/officeDocument/2006/relationships/image" Target="/ppt/media/image3.png" Id="R4d0892971dfc4736" /><Relationship Type="http://schemas.openxmlformats.org/officeDocument/2006/relationships/image" Target="/ppt/media/image3.svg" Id="R08425468a6ad4a32" /><Relationship Type="http://schemas.openxmlformats.org/officeDocument/2006/relationships/notesSlide" Target="/ppt/notesSlides/notesSlide2.xml" Id="Ref3bbb8da8a4492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0ca264f6934f1c" /><Relationship Type="http://schemas.openxmlformats.org/officeDocument/2006/relationships/image" Target="/ppt/media/image4.png" Id="R91f3f3f8699f4dc9" /><Relationship Type="http://schemas.openxmlformats.org/officeDocument/2006/relationships/image" Target="/ppt/media/image5.png" Id="Re1ba3576f9404643" /><Relationship Type="http://schemas.openxmlformats.org/officeDocument/2006/relationships/notesSlide" Target="/ppt/notesSlides/notesSlide3.xml" Id="R37c48161ce0043a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00bcd49dba437d" /><Relationship Type="http://schemas.openxmlformats.org/officeDocument/2006/relationships/image" Target="/ppt/media/image6.png" Id="R7523ae1ce7b14584" /><Relationship Type="http://schemas.openxmlformats.org/officeDocument/2006/relationships/image" Target="/ppt/media/image4.svg" Id="R7121e0e2cb7346c6" /><Relationship Type="http://schemas.openxmlformats.org/officeDocument/2006/relationships/image" Target="/ppt/media/image7.png" Id="R8e8fee1cf27d4339" /><Relationship Type="http://schemas.openxmlformats.org/officeDocument/2006/relationships/image" Target="/ppt/media/image5.svg" Id="Re3f6ae8ec7c548a4" /><Relationship Type="http://schemas.openxmlformats.org/officeDocument/2006/relationships/image" Target="/ppt/media/image8.png" Id="Rc5f79e99ba6f409f" /><Relationship Type="http://schemas.openxmlformats.org/officeDocument/2006/relationships/image" Target="/ppt/media/image6.svg" Id="Rbf3e359226cb4df1" /><Relationship Type="http://schemas.openxmlformats.org/officeDocument/2006/relationships/notesSlide" Target="/ppt/notesSlides/notesSlide4.xml" Id="R3456bd5499b9488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05b87ca0544e98" /><Relationship Type="http://schemas.openxmlformats.org/officeDocument/2006/relationships/image" Target="/ppt/media/image9.png" Id="R9823bd97874b49d0" /><Relationship Type="http://schemas.openxmlformats.org/officeDocument/2006/relationships/image" Target="/ppt/media/image10.png" Id="R2b2a92690f4c4933" /><Relationship Type="http://schemas.openxmlformats.org/officeDocument/2006/relationships/image" Target="/ppt/media/image11.png" Id="R2ade509b49b34b7e" /><Relationship Type="http://schemas.openxmlformats.org/officeDocument/2006/relationships/notesSlide" Target="/ppt/notesSlides/notesSlide5.xml" Id="R75d5c239609545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9cb521b3534e73" /><Relationship Type="http://schemas.openxmlformats.org/officeDocument/2006/relationships/image" Target="/ppt/media/image12.png" Id="R4c17382ad5bb4914" /><Relationship Type="http://schemas.openxmlformats.org/officeDocument/2006/relationships/notesSlide" Target="/ppt/notesSlides/notesSlide6.xml" Id="Re0a05d79c69049e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f5b47e0caa4997" /><Relationship Type="http://schemas.openxmlformats.org/officeDocument/2006/relationships/image" Target="/ppt/media/image13.png" Id="R14e457e3606c4e74" /><Relationship Type="http://schemas.openxmlformats.org/officeDocument/2006/relationships/image" Target="/ppt/media/image7.svg" Id="Ra7b2180f7b0b4902" /><Relationship Type="http://schemas.openxmlformats.org/officeDocument/2006/relationships/image" Target="/ppt/media/image14.png" Id="R08b7a736ee6a4a2a" /><Relationship Type="http://schemas.openxmlformats.org/officeDocument/2006/relationships/image" Target="/ppt/media/image8.svg" Id="R6f5e8e68c6ae4d74" /><Relationship Type="http://schemas.openxmlformats.org/officeDocument/2006/relationships/image" Target="/ppt/media/image15.png" Id="Rea0c2b50a8244e8c" /><Relationship Type="http://schemas.openxmlformats.org/officeDocument/2006/relationships/image" Target="/ppt/media/image9.svg" Id="R2ae73d1901c44914" /><Relationship Type="http://schemas.openxmlformats.org/officeDocument/2006/relationships/notesSlide" Target="/ppt/notesSlides/notesSlide7.xml" Id="R2a7fca2cc55c4a8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fc50d5cf494ee0" /><Relationship Type="http://schemas.openxmlformats.org/officeDocument/2006/relationships/image" Target="/ppt/media/image2.jpeg" Id="Rf446c53d0dde42a6" /><Relationship Type="http://schemas.openxmlformats.org/officeDocument/2006/relationships/notesSlide" Target="/ppt/notesSlides/notesSlide8.xml" Id="R15cc060698004c1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7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A83116-08A5-421B-98DD-92AD64A7C62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6e40732ca744be"/>
          <a:srcRect xmlns:a="http://schemas.openxmlformats.org/drawingml/2006/main" l="0" t="31204" r="0" b="312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BACB4F4B-CA76-4C48-A34A-C15F9A7A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rPr>
              <a:t>TREADLIGHT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D048F95-7748-4A92-BE05-1AABF933C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85925"/>
            <a:ext cx="1047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75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75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75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75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75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75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75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75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75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75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75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踏光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FA2B123A-E96E-46ED-A786-135EFA0E8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6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46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46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46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46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46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46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46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46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46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46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6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rPr>
              <a:t>两拍回响</a:t>
            </a:r>
          </a:p>
        </p:txBody>
      </p:sp>
      <p:sp>
        <p:nvSpPr>
          <p:cNvPr id="5" name="core">
            <a:extLst xmlns:a="http://schemas.openxmlformats.org/drawingml/2006/main">
              <a:ext uri="{FF2B5EF4-FFF2-40B4-BE49-F238E27FC236}">
                <a16:creationId xmlns:a16="http://schemas.microsoft.com/office/drawing/2014/main" id="{1607CA62-B157-468C-A054-A8F5AF08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100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5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5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5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5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5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5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5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5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5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起跳造路，落拍留光</a:t>
            </a:r>
          </a:p>
        </p:txBody>
      </p:sp>
      <p:sp>
        <p:nvSpPr>
          <p:cNvPr id="6" name="team">
            <a:extLst xmlns:a="http://schemas.openxmlformats.org/drawingml/2006/main">
              <a:ext uri="{FF2B5EF4-FFF2-40B4-BE49-F238E27FC236}">
                <a16:creationId xmlns:a16="http://schemas.microsoft.com/office/drawing/2014/main" id="{7EA9027E-E70A-40DB-8775-930A54DED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48375"/>
            <a:ext cx="714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团队 A / B / C</a:t>
            </a:r>
          </a:p>
        </p:txBody>
      </p:sp>
      <p:sp>
        <p:nvSpPr>
          <p:cNvPr id="7" name="platform">
            <a:extLst xmlns:a="http://schemas.openxmlformats.org/drawingml/2006/main">
              <a:ext uri="{FF2B5EF4-FFF2-40B4-BE49-F238E27FC236}">
                <a16:creationId xmlns:a16="http://schemas.microsoft.com/office/drawing/2014/main" id="{09F49542-7DC2-4E45-87D2-E3BF1322C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6048375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2D 节奏平台游戏</a:t>
            </a:r>
          </a:p>
        </p:txBody>
      </p:sp>
    </p:spTree>
    <p:extLst>
      <p:ext uri="{BB962C8B-B14F-4D97-AF65-F5344CB8AC3E}">
        <p14:creationId xmlns:p14="http://schemas.microsoft.com/office/powerpoint/2010/main" val="16717874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7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">
            <a:extLst xmlns:a="http://schemas.openxmlformats.org/drawingml/2006/main">
              <a:ext uri="{FF2B5EF4-FFF2-40B4-BE49-F238E27FC236}">
                <a16:creationId xmlns:a16="http://schemas.microsoft.com/office/drawing/2014/main" id="{F052D85A-3D8A-490A-B182-B56F04730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光之遗迹里的修复之旅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ED872D3-9655-4CB3-B0B7-FE7B63530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每一次有节奏的起落，都会改变眼前的道路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3DD8CBC0-8482-4AEF-B915-5D92FEC92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4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" name="statement">
            <a:extLst xmlns:a="http://schemas.openxmlformats.org/drawingml/2006/main">
              <a:ext uri="{FF2B5EF4-FFF2-40B4-BE49-F238E27FC236}">
                <a16:creationId xmlns:a16="http://schemas.microsoft.com/office/drawing/2014/main" id="{EAFF325E-9D31-4160-BC00-D1CED26F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40957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9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9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9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9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9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9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9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9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9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9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让短暂的光</a:t>
            </a:r>
          </a:p>
          <a:p xmlns:a="http://schemas.openxmlformats.org/drawingml/2006/main">
            <a:pPr>
              <a:defRPr sz="39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成为留下的路</a:t>
            </a:r>
          </a:p>
        </p:txBody>
      </p:sp>
      <p:sp>
        <p:nvSpPr>
          <p:cNvPr id="5" name="world">
            <a:extLst xmlns:a="http://schemas.openxmlformats.org/drawingml/2006/main">
              <a:ext uri="{FF2B5EF4-FFF2-40B4-BE49-F238E27FC236}">
                <a16:creationId xmlns:a16="http://schemas.microsoft.com/office/drawing/2014/main" id="{9DB01DFC-B14B-4126-92A6-FB666089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4095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安全平台容许等待</a:t>
            </a:r>
          </a:p>
          <a:p xmlns:a="http://schemas.openxmlformats.org/drawingml/2006/main">
            <a:pPr>
              <a:defRPr sz="21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断路等待一次完整回应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9C418A-2AB0-4529-A5FF-3CC452E66C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5444b75a54400e">
            <a:extLst>
              <a:ext uri="{96DAC541-7B7A-43D3-8B79-37D633B846F1}">
                <asvg:svgBlip xmlns:asvg="http://schemas.microsoft.com/office/drawing/2016/SVG/main" r:embed="Rcbe0e2046f73411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667375" y="2571750"/>
            <a:ext cx="876300" cy="876300"/>
          </a:xfrm>
          <a:prstGeom xmlns:a="http://schemas.openxmlformats.org/drawingml/2006/main" prst="rect">
            <a:avLst/>
          </a:prstGeom>
        </p:spPr>
      </p:pic>
      <p:sp>
        <p:nvSpPr>
          <p:cNvPr id="7" name="stage-0">
            <a:extLst xmlns:a="http://schemas.openxmlformats.org/drawingml/2006/main">
              <a:ext uri="{FF2B5EF4-FFF2-40B4-BE49-F238E27FC236}">
                <a16:creationId xmlns:a16="http://schemas.microsoft.com/office/drawing/2014/main" id="{5B15D0C7-B15C-483B-A3F2-97A7BDC37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867150"/>
            <a:ext cx="17621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550" b="1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550" b="1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550" b="1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550" b="1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550" b="1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550" b="1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550" b="1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550" b="1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550" b="1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8" name="stage-detail-0">
            <a:extLst xmlns:a="http://schemas.openxmlformats.org/drawingml/2006/main">
              <a:ext uri="{FF2B5EF4-FFF2-40B4-BE49-F238E27FC236}">
                <a16:creationId xmlns:a16="http://schemas.microsoft.com/office/drawing/2014/main" id="{E2A49450-4F4E-4F88-BB0C-79A7C9CEE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43425"/>
            <a:ext cx="1762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听见节拍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B71C68-E07E-41B0-8010-D951ADC2A9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26f7fc17374e4f">
            <a:extLst>
              <a:ext uri="{96DAC541-7B7A-43D3-8B79-37D633B846F1}">
                <asvg:svgBlip xmlns:asvg="http://schemas.microsoft.com/office/drawing/2016/SVG/main" r:embed="R2937fd2257d6437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743825" y="2571750"/>
            <a:ext cx="876300" cy="876300"/>
          </a:xfrm>
          <a:prstGeom xmlns:a="http://schemas.openxmlformats.org/drawingml/2006/main" prst="rect">
            <a:avLst/>
          </a:prstGeom>
        </p:spPr>
      </p:pic>
      <p:sp>
        <p:nvSpPr>
          <p:cNvPr id="10" name="stage-1">
            <a:extLst xmlns:a="http://schemas.openxmlformats.org/drawingml/2006/main">
              <a:ext uri="{FF2B5EF4-FFF2-40B4-BE49-F238E27FC236}">
                <a16:creationId xmlns:a16="http://schemas.microsoft.com/office/drawing/2014/main" id="{36F842EA-704A-4E8F-9EDE-90497B39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867150"/>
            <a:ext cx="17621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rPr>
              <a:t>造路</a:t>
            </a:r>
          </a:p>
        </p:txBody>
      </p:sp>
      <p:sp>
        <p:nvSpPr>
          <p:cNvPr id="11" name="stage-detail-1">
            <a:extLst xmlns:a="http://schemas.openxmlformats.org/drawingml/2006/main">
              <a:ext uri="{FF2B5EF4-FFF2-40B4-BE49-F238E27FC236}">
                <a16:creationId xmlns:a16="http://schemas.microsoft.com/office/drawing/2014/main" id="{B3B9A9B6-66FF-41FA-80A2-43E5E347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543425"/>
            <a:ext cx="1762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青桥出现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3C0594-EBA1-42D0-8199-F550AFE53A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0892971dfc4736">
            <a:extLst>
              <a:ext uri="{96DAC541-7B7A-43D3-8B79-37D633B846F1}">
                <asvg:svgBlip xmlns:asvg="http://schemas.microsoft.com/office/drawing/2016/SVG/main" r:embed="R08425468a6ad4a3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820275" y="2571750"/>
            <a:ext cx="876300" cy="876300"/>
          </a:xfrm>
          <a:prstGeom xmlns:a="http://schemas.openxmlformats.org/drawingml/2006/main" prst="rect">
            <a:avLst/>
          </a:prstGeom>
        </p:spPr>
      </p:pic>
      <p:sp>
        <p:nvSpPr>
          <p:cNvPr id="13" name="stage-2">
            <a:extLst xmlns:a="http://schemas.openxmlformats.org/drawingml/2006/main">
              <a:ext uri="{FF2B5EF4-FFF2-40B4-BE49-F238E27FC236}">
                <a16:creationId xmlns:a16="http://schemas.microsoft.com/office/drawing/2014/main" id="{7DA51518-F73D-4B39-9161-F37BCF2C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867150"/>
            <a:ext cx="17621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rPr>
              <a:t>留光</a:t>
            </a:r>
          </a:p>
        </p:txBody>
      </p:sp>
      <p:sp>
        <p:nvSpPr>
          <p:cNvPr id="14" name="stage-detail-2">
            <a:extLst xmlns:a="http://schemas.openxmlformats.org/drawingml/2006/main">
              <a:ext uri="{FF2B5EF4-FFF2-40B4-BE49-F238E27FC236}">
                <a16:creationId xmlns:a16="http://schemas.microsoft.com/office/drawing/2014/main" id="{6AFAB7EB-90BA-4889-B9A5-98FB93746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543425"/>
            <a:ext cx="1762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金桥固定</a:t>
            </a:r>
          </a:p>
        </p:txBody>
      </p:sp>
    </p:spTree>
    <p:extLst>
      <p:ext uri="{BB962C8B-B14F-4D97-AF65-F5344CB8AC3E}">
        <p14:creationId xmlns:p14="http://schemas.microsoft.com/office/powerpoint/2010/main" val="4963982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7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D8581C92-20AB-43D2-8F12-1A9A0247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起跳造路，落拍留光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CB3EEB8-5EA3-46B4-9588-C8E6ED016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先唤醒临时通路，再用落地点亮共鸣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A717EA75-DF45-4AA6-8404-A81E9598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4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jump-label">
            <a:extLst xmlns:a="http://schemas.openxmlformats.org/drawingml/2006/main">
              <a:ext uri="{FF2B5EF4-FFF2-40B4-BE49-F238E27FC236}">
                <a16:creationId xmlns:a16="http://schemas.microsoft.com/office/drawing/2014/main" id="{6994F1BE-4BB8-45A8-8FDB-2D87519AB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rPr>
              <a:t>起跳造路</a:t>
            </a:r>
          </a:p>
        </p:txBody>
      </p:sp>
      <p:sp>
        <p:nvSpPr>
          <p:cNvPr id="5" name="landing-label">
            <a:extLst xmlns:a="http://schemas.openxmlformats.org/drawingml/2006/main">
              <a:ext uri="{FF2B5EF4-FFF2-40B4-BE49-F238E27FC236}">
                <a16:creationId xmlns:a16="http://schemas.microsoft.com/office/drawing/2014/main" id="{5891BE29-CAAE-4B6E-AB7D-6E6349E6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19300"/>
            <a:ext cx="523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rPr>
              <a:t>落拍留光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9C2172-1E92-4C9A-B5F1-AC04D8191E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f3f3f8699f4dc9"/>
          <a:stretch xmlns:a="http://schemas.openxmlformats.org/drawingml/2006/main"/>
        </p:blipFill>
        <p:spPr>
          <a:xfrm xmlns:a="http://schemas.openxmlformats.org/drawingml/2006/main">
            <a:off x="609600" y="2571750"/>
            <a:ext cx="5238750" cy="2946797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75D8D2-0BDC-439C-A015-A3FCB7B299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ba3576f9404643"/>
          <a:stretch xmlns:a="http://schemas.openxmlformats.org/drawingml/2006/main"/>
        </p:blipFill>
        <p:spPr>
          <a:xfrm xmlns:a="http://schemas.openxmlformats.org/drawingml/2006/main">
            <a:off x="6343650" y="2571750"/>
            <a:ext cx="5238750" cy="2946797"/>
          </a:xfrm>
          <a:prstGeom xmlns:a="http://schemas.openxmlformats.org/drawingml/2006/main" prst="rect">
            <a:avLst/>
          </a:prstGeom>
        </p:spPr>
      </p:pic>
      <p:sp>
        <p:nvSpPr>
          <p:cNvPr id="8" name="jump-rule">
            <a:extLst xmlns:a="http://schemas.openxmlformats.org/drawingml/2006/main">
              <a:ext uri="{FF2B5EF4-FFF2-40B4-BE49-F238E27FC236}">
                <a16:creationId xmlns:a16="http://schemas.microsoft.com/office/drawing/2014/main" id="{767074B7-F604-418B-82A6-766560982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05475"/>
            <a:ext cx="5238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踩拍从地面起跳，青桥持续四拍</a:t>
            </a:r>
          </a:p>
        </p:txBody>
      </p:sp>
      <p:sp>
        <p:nvSpPr>
          <p:cNvPr id="9" name="land-rule">
            <a:extLst xmlns:a="http://schemas.openxmlformats.org/drawingml/2006/main">
              <a:ext uri="{FF2B5EF4-FFF2-40B4-BE49-F238E27FC236}">
                <a16:creationId xmlns:a16="http://schemas.microsoft.com/office/drawing/2014/main" id="{7658427E-D0FA-4CD6-9686-80127A5ED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705475"/>
            <a:ext cx="5238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踩拍落在桥面，金桥在本轮保留</a:t>
            </a:r>
          </a:p>
        </p:txBody>
      </p:sp>
      <p:sp>
        <p:nvSpPr>
          <p:cNvPr id="10" name="reset-note">
            <a:extLst xmlns:a="http://schemas.openxmlformats.org/drawingml/2006/main">
              <a:ext uri="{FF2B5EF4-FFF2-40B4-BE49-F238E27FC236}">
                <a16:creationId xmlns:a16="http://schemas.microsoft.com/office/drawing/2014/main" id="{28EBC84A-F567-4468-9320-A6B0189B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10001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重开房间会重置光桥。全部共鸣修复后，出口开启。</a:t>
            </a:r>
          </a:p>
        </p:txBody>
      </p:sp>
    </p:spTree>
    <p:extLst>
      <p:ext uri="{BB962C8B-B14F-4D97-AF65-F5344CB8AC3E}">
        <p14:creationId xmlns:p14="http://schemas.microsoft.com/office/powerpoint/2010/main" val="15951655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7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">
            <a:extLst xmlns:a="http://schemas.openxmlformats.org/drawingml/2006/main">
              <a:ext uri="{FF2B5EF4-FFF2-40B4-BE49-F238E27FC236}">
                <a16:creationId xmlns:a16="http://schemas.microsoft.com/office/drawing/2014/main" id="{E7BC9276-B97F-4AC3-A3A1-EBEA023B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可以等待，也可以再次尝试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15C7D0B-7084-42ED-8165-015C52242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站在地面时，随时可以起跳。普通跳跃与踩拍跳跃保持相同轨迹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9141B903-072B-4557-8E8C-3F3A8D4FF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4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CDA38F-9E2C-4954-8988-B220C4180F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23ae1ce7b14584">
            <a:extLst>
              <a:ext uri="{96DAC541-7B7A-43D3-8B79-37D633B846F1}">
                <asvg:svgBlip xmlns:asvg="http://schemas.microsoft.com/office/drawing/2016/SVG/main" r:embed="R7121e0e2cb7346c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9600" y="2209800"/>
            <a:ext cx="685800" cy="685800"/>
          </a:xfrm>
          <a:prstGeom xmlns:a="http://schemas.openxmlformats.org/drawingml/2006/main" prst="rect">
            <a:avLst/>
          </a:prstGeom>
        </p:spPr>
      </p:pic>
      <p:sp>
        <p:nvSpPr>
          <p:cNvPr id="5" name="control-title-0">
            <a:extLst xmlns:a="http://schemas.openxmlformats.org/drawingml/2006/main">
              <a:ext uri="{FF2B5EF4-FFF2-40B4-BE49-F238E27FC236}">
                <a16:creationId xmlns:a16="http://schemas.microsoft.com/office/drawing/2014/main" id="{A1DF7C80-72C5-4223-8A23-1CC5AC7B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0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0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0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0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0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0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0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0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0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rPr>
              <a:t>120 BPM</a:t>
            </a:r>
          </a:p>
        </p:txBody>
      </p:sp>
      <p:sp>
        <p:nvSpPr>
          <p:cNvPr id="6" name="control-main-0">
            <a:extLst xmlns:a="http://schemas.openxmlformats.org/drawingml/2006/main">
              <a:ext uri="{FF2B5EF4-FFF2-40B4-BE49-F238E27FC236}">
                <a16:creationId xmlns:a16="http://schemas.microsoft.com/office/drawing/2014/main" id="{8BC72F02-786A-4E44-9D98-9BC83B67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3333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四拍灯与光环</a:t>
            </a:r>
          </a:p>
          <a:p xmlns:a="http://schemas.openxmlformats.org/drawingml/2006/main">
            <a: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提示下一拍</a:t>
            </a:r>
          </a:p>
        </p:txBody>
      </p:sp>
      <p:sp>
        <p:nvSpPr>
          <p:cNvPr id="7" name="control-detail-0">
            <a:extLst xmlns:a="http://schemas.openxmlformats.org/drawingml/2006/main">
              <a:ext uri="{FF2B5EF4-FFF2-40B4-BE49-F238E27FC236}">
                <a16:creationId xmlns:a16="http://schemas.microsoft.com/office/drawing/2014/main" id="{EB5907C1-9BE8-4EF8-87C8-4BDD599CB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33337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准确 ±80 ms</a:t>
            </a:r>
          </a:p>
          <a:p xmlns:a="http://schemas.openxmlformats.org/drawingml/2006/main">
            <a: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良好 ±150 ms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56624F-D443-49FA-B2FB-E95EE07419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8fee1cf27d4339">
            <a:extLst>
              <a:ext uri="{96DAC541-7B7A-43D3-8B79-37D633B846F1}">
                <asvg:svgBlip xmlns:asvg="http://schemas.microsoft.com/office/drawing/2016/SVG/main" r:embed="Re3f6ae8ec7c548a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38650" y="2209800"/>
            <a:ext cx="685800" cy="685800"/>
          </a:xfrm>
          <a:prstGeom xmlns:a="http://schemas.openxmlformats.org/drawingml/2006/main" prst="rect">
            <a:avLst/>
          </a:prstGeom>
        </p:spPr>
      </p:pic>
      <p:sp>
        <p:nvSpPr>
          <p:cNvPr id="9" name="control-title-1">
            <a:extLst xmlns:a="http://schemas.openxmlformats.org/drawingml/2006/main">
              <a:ext uri="{FF2B5EF4-FFF2-40B4-BE49-F238E27FC236}">
                <a16:creationId xmlns:a16="http://schemas.microsoft.com/office/drawing/2014/main" id="{AC060650-B0B7-49AF-B73E-DF5BD314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2956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0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0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0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0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0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0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0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0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0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四拍时间</a:t>
            </a:r>
          </a:p>
        </p:txBody>
      </p:sp>
      <p:sp>
        <p:nvSpPr>
          <p:cNvPr id="10" name="control-main-1">
            <a:extLst xmlns:a="http://schemas.openxmlformats.org/drawingml/2006/main">
              <a:ext uri="{FF2B5EF4-FFF2-40B4-BE49-F238E27FC236}">
                <a16:creationId xmlns:a16="http://schemas.microsoft.com/office/drawing/2014/main" id="{79D5C28C-2077-4108-94AE-DE927795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333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青桥存在两秒</a:t>
            </a:r>
          </a:p>
          <a:p xmlns:a="http://schemas.openxmlformats.org/drawingml/2006/main">
            <a: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同高起落约两拍</a:t>
            </a:r>
          </a:p>
        </p:txBody>
      </p:sp>
      <p:sp>
        <p:nvSpPr>
          <p:cNvPr id="11" name="control-detail-1">
            <a:extLst xmlns:a="http://schemas.openxmlformats.org/drawingml/2006/main">
              <a:ext uri="{FF2B5EF4-FFF2-40B4-BE49-F238E27FC236}">
                <a16:creationId xmlns:a16="http://schemas.microsoft.com/office/drawing/2014/main" id="{93C66D70-E819-4417-86D4-7161549C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381625"/>
            <a:ext cx="33337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落地自动判定</a:t>
            </a:r>
          </a:p>
          <a:p xmlns:a="http://schemas.openxmlformats.org/drawingml/2006/main">
            <a: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无需额外按键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537908-FC31-4607-ADB5-77189A9703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f79e99ba6f409f">
            <a:extLst>
              <a:ext uri="{96DAC541-7B7A-43D3-8B79-37D633B846F1}">
                <asvg:svgBlip xmlns:asvg="http://schemas.microsoft.com/office/drawing/2016/SVG/main" r:embed="Rbf3e359226cb4df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67700" y="2209800"/>
            <a:ext cx="685800" cy="685800"/>
          </a:xfrm>
          <a:prstGeom xmlns:a="http://schemas.openxmlformats.org/drawingml/2006/main" prst="rect">
            <a:avLst/>
          </a:prstGeom>
        </p:spPr>
      </p:pic>
      <p:sp>
        <p:nvSpPr>
          <p:cNvPr id="13" name="control-title-2">
            <a:extLst xmlns:a="http://schemas.openxmlformats.org/drawingml/2006/main">
              <a:ext uri="{FF2B5EF4-FFF2-40B4-BE49-F238E27FC236}">
                <a16:creationId xmlns:a16="http://schemas.microsoft.com/office/drawing/2014/main" id="{3EC7DEB1-735D-44FF-B1DC-01A7B48B1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956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0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0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0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0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0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0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0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0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0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rPr>
              <a:t>一拍预警</a:t>
            </a:r>
          </a:p>
        </p:txBody>
      </p:sp>
      <p:sp>
        <p:nvSpPr>
          <p:cNvPr id="14" name="control-main-2">
            <a:extLst xmlns:a="http://schemas.openxmlformats.org/drawingml/2006/main">
              <a:ext uri="{FF2B5EF4-FFF2-40B4-BE49-F238E27FC236}">
                <a16:creationId xmlns:a16="http://schemas.microsoft.com/office/drawing/2014/main" id="{EA141203-AF43-4DF3-B195-8DFA7F14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076700"/>
            <a:ext cx="3333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先显示无害虚线</a:t>
            </a:r>
          </a:p>
          <a:p xmlns:a="http://schemas.openxmlformats.org/drawingml/2006/main">
            <a:pPr>
              <a:def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随后一拍进入危险</a:t>
            </a:r>
          </a:p>
        </p:txBody>
      </p:sp>
      <p:sp>
        <p:nvSpPr>
          <p:cNvPr id="15" name="control-detail-2">
            <a:extLst xmlns:a="http://schemas.openxmlformats.org/drawingml/2006/main">
              <a:ext uri="{FF2B5EF4-FFF2-40B4-BE49-F238E27FC236}">
                <a16:creationId xmlns:a16="http://schemas.microsoft.com/office/drawing/2014/main" id="{9CC5216F-6550-434C-AB07-F4F3B95A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381625"/>
            <a:ext cx="33337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留在安全平台</a:t>
            </a:r>
          </a:p>
          <a:p xmlns:a="http://schemas.openxmlformats.org/drawingml/2006/main">
            <a:pPr>
              <a:def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观察再前进</a:t>
            </a:r>
          </a:p>
        </p:txBody>
      </p:sp>
    </p:spTree>
    <p:extLst>
      <p:ext uri="{BB962C8B-B14F-4D97-AF65-F5344CB8AC3E}">
        <p14:creationId xmlns:p14="http://schemas.microsoft.com/office/powerpoint/2010/main" val="20872846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7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itle">
            <a:extLst xmlns:a="http://schemas.openxmlformats.org/drawingml/2006/main">
              <a:ext uri="{FF2B5EF4-FFF2-40B4-BE49-F238E27FC236}">
                <a16:creationId xmlns:a16="http://schemas.microsoft.com/office/drawing/2014/main" id="{986B45F4-3175-4F5E-BF31-0FAE28D4D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三个房间，逐步掌握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F3F63D3-968A-49A1-8957-573198D36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用布局与机关组合增加挑战，三个房间保持同一音乐速度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A3024403-3B25-43B0-ADB6-AAFAA437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4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" name="room-number-0">
            <a:extLst xmlns:a="http://schemas.openxmlformats.org/drawingml/2006/main">
              <a:ext uri="{FF2B5EF4-FFF2-40B4-BE49-F238E27FC236}">
                <a16:creationId xmlns:a16="http://schemas.microsoft.com/office/drawing/2014/main" id="{33EC3DEE-81EC-4923-BF41-ECA39092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333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1474EA-A84F-46C5-B0F7-6CCDEB00AB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23bd97874b49d0"/>
          <a:stretch xmlns:a="http://schemas.openxmlformats.org/drawingml/2006/main"/>
        </p:blipFill>
        <p:spPr>
          <a:xfrm xmlns:a="http://schemas.openxmlformats.org/drawingml/2006/main">
            <a:off x="609600" y="2828925"/>
            <a:ext cx="3333750" cy="1875234"/>
          </a:xfrm>
          <a:prstGeom xmlns:a="http://schemas.openxmlformats.org/drawingml/2006/main" prst="rect">
            <a:avLst/>
          </a:prstGeom>
        </p:spPr>
      </p:pic>
      <p:sp>
        <p:nvSpPr>
          <p:cNvPr id="6" name="room-name-0">
            <a:extLst xmlns:a="http://schemas.openxmlformats.org/drawingml/2006/main">
              <a:ext uri="{FF2B5EF4-FFF2-40B4-BE49-F238E27FC236}">
                <a16:creationId xmlns:a16="http://schemas.microsoft.com/office/drawing/2014/main" id="{30F46FB4-BF4A-41EF-81B3-7F344F298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唤醒余音</a:t>
            </a:r>
          </a:p>
        </p:txBody>
      </p:sp>
      <p:sp>
        <p:nvSpPr>
          <p:cNvPr id="7" name="room-learning-0">
            <a:extLst xmlns:a="http://schemas.openxmlformats.org/drawingml/2006/main">
              <a:ext uri="{FF2B5EF4-FFF2-40B4-BE49-F238E27FC236}">
                <a16:creationId xmlns:a16="http://schemas.microsoft.com/office/drawing/2014/main" id="{77A89D6B-785A-43CF-94E0-4EA9A90CA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rPr>
              <a:t>理解一次完整修复</a:t>
            </a:r>
          </a:p>
        </p:txBody>
      </p:sp>
      <p:sp>
        <p:nvSpPr>
          <p:cNvPr id="8" name="room-count-0">
            <a:extLst xmlns:a="http://schemas.openxmlformats.org/drawingml/2006/main">
              <a:ext uri="{FF2B5EF4-FFF2-40B4-BE49-F238E27FC236}">
                <a16:creationId xmlns:a16="http://schemas.microsoft.com/office/drawing/2014/main" id="{A18D4A76-86CF-4B21-8D99-F7D43689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24575"/>
            <a:ext cx="3333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一座光桥，无激光</a:t>
            </a:r>
          </a:p>
        </p:txBody>
      </p:sp>
      <p:sp>
        <p:nvSpPr>
          <p:cNvPr id="9" name="room-number-1">
            <a:extLst xmlns:a="http://schemas.openxmlformats.org/drawingml/2006/main">
              <a:ext uri="{FF2B5EF4-FFF2-40B4-BE49-F238E27FC236}">
                <a16:creationId xmlns:a16="http://schemas.microsoft.com/office/drawing/2014/main" id="{E089E2C0-E542-44C5-9FCF-3369682F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19300"/>
            <a:ext cx="333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6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6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6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6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6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6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6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6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6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D00CE1-4480-4CB0-8F4F-F11A1F4D1C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2a92690f4c4933"/>
          <a:stretch xmlns:a="http://schemas.openxmlformats.org/drawingml/2006/main"/>
        </p:blipFill>
        <p:spPr>
          <a:xfrm xmlns:a="http://schemas.openxmlformats.org/drawingml/2006/main">
            <a:off x="4438650" y="2828925"/>
            <a:ext cx="3333750" cy="1875234"/>
          </a:xfrm>
          <a:prstGeom xmlns:a="http://schemas.openxmlformats.org/drawingml/2006/main" prst="rect">
            <a:avLst/>
          </a:prstGeom>
        </p:spPr>
      </p:pic>
      <p:sp>
        <p:nvSpPr>
          <p:cNvPr id="11" name="room-name-1">
            <a:extLst xmlns:a="http://schemas.openxmlformats.org/drawingml/2006/main">
              <a:ext uri="{FF2B5EF4-FFF2-40B4-BE49-F238E27FC236}">
                <a16:creationId xmlns:a16="http://schemas.microsoft.com/office/drawing/2014/main" id="{F01E0854-6728-42CC-9745-3512C8C72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33950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让光留下</a:t>
            </a:r>
          </a:p>
        </p:txBody>
      </p:sp>
      <p:sp>
        <p:nvSpPr>
          <p:cNvPr id="12" name="room-learning-1">
            <a:extLst xmlns:a="http://schemas.openxmlformats.org/drawingml/2006/main">
              <a:ext uri="{FF2B5EF4-FFF2-40B4-BE49-F238E27FC236}">
                <a16:creationId xmlns:a16="http://schemas.microsoft.com/office/drawing/2014/main" id="{7D603486-0D59-486C-8F74-26021836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61975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在危险中选择时机</a:t>
            </a:r>
          </a:p>
        </p:txBody>
      </p:sp>
      <p:sp>
        <p:nvSpPr>
          <p:cNvPr id="13" name="room-count-1">
            <a:extLst xmlns:a="http://schemas.openxmlformats.org/drawingml/2006/main">
              <a:ext uri="{FF2B5EF4-FFF2-40B4-BE49-F238E27FC236}">
                <a16:creationId xmlns:a16="http://schemas.microsoft.com/office/drawing/2014/main" id="{1CA957AE-9705-4012-AE3B-F3F69571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6124575"/>
            <a:ext cx="3333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一座光桥，两处激光</a:t>
            </a:r>
          </a:p>
        </p:txBody>
      </p:sp>
      <p:sp>
        <p:nvSpPr>
          <p:cNvPr id="14" name="room-number-2">
            <a:extLst xmlns:a="http://schemas.openxmlformats.org/drawingml/2006/main">
              <a:ext uri="{FF2B5EF4-FFF2-40B4-BE49-F238E27FC236}">
                <a16:creationId xmlns:a16="http://schemas.microsoft.com/office/drawing/2014/main" id="{295F78B1-3EE6-4145-A993-321198C8E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19300"/>
            <a:ext cx="333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6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6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6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6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6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6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6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6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6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8F6255-11EC-4625-A93B-1BED7A5759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de509b49b34b7e"/>
          <a:stretch xmlns:a="http://schemas.openxmlformats.org/drawingml/2006/main"/>
        </p:blipFill>
        <p:spPr>
          <a:xfrm xmlns:a="http://schemas.openxmlformats.org/drawingml/2006/main">
            <a:off x="8267700" y="2828925"/>
            <a:ext cx="3333750" cy="1875234"/>
          </a:xfrm>
          <a:prstGeom xmlns:a="http://schemas.openxmlformats.org/drawingml/2006/main" prst="rect">
            <a:avLst/>
          </a:prstGeom>
        </p:spPr>
      </p:pic>
      <p:sp>
        <p:nvSpPr>
          <p:cNvPr id="16" name="room-name-2">
            <a:extLst xmlns:a="http://schemas.openxmlformats.org/drawingml/2006/main">
              <a:ext uri="{FF2B5EF4-FFF2-40B4-BE49-F238E27FC236}">
                <a16:creationId xmlns:a16="http://schemas.microsoft.com/office/drawing/2014/main" id="{ED493214-7206-426A-A342-6E645634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933950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接续回响</a:t>
            </a:r>
          </a:p>
        </p:txBody>
      </p:sp>
      <p:sp>
        <p:nvSpPr>
          <p:cNvPr id="17" name="room-learning-2">
            <a:extLst xmlns:a="http://schemas.openxmlformats.org/drawingml/2006/main">
              <a:ext uri="{FF2B5EF4-FFF2-40B4-BE49-F238E27FC236}">
                <a16:creationId xmlns:a16="http://schemas.microsoft.com/office/drawing/2014/main" id="{607D1C85-4C55-4F92-9446-74011051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61975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rPr>
              <a:t>连续完成两段共鸣</a:t>
            </a:r>
          </a:p>
        </p:txBody>
      </p:sp>
      <p:sp>
        <p:nvSpPr>
          <p:cNvPr id="18" name="room-count-2">
            <a:extLst xmlns:a="http://schemas.openxmlformats.org/drawingml/2006/main">
              <a:ext uri="{FF2B5EF4-FFF2-40B4-BE49-F238E27FC236}">
                <a16:creationId xmlns:a16="http://schemas.microsoft.com/office/drawing/2014/main" id="{8264475D-5645-4584-ABBC-9C828FCF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6124575"/>
            <a:ext cx="3333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两座光桥，两处激光</a:t>
            </a:r>
          </a:p>
        </p:txBody>
      </p:sp>
    </p:spTree>
    <p:extLst>
      <p:ext uri="{BB962C8B-B14F-4D97-AF65-F5344CB8AC3E}">
        <p14:creationId xmlns:p14="http://schemas.microsoft.com/office/powerpoint/2010/main" val="4196918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17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476B5AE4-5C28-4087-9107-9E6738E9B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听到的节拍，对应看见的反馈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3E5ED46-E242-4C36-9513-47A46BFC8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音轨、判定、机关与提示共用同一套时间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0404233-EDBE-4EA5-8872-400FF04F2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4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AFDCFC-55F7-4FC7-B910-BC03D16910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17382ad5bb4914"/>
          <a:stretch xmlns:a="http://schemas.openxmlformats.org/drawingml/2006/main"/>
        </p:blipFill>
        <p:spPr>
          <a:xfrm xmlns:a="http://schemas.openxmlformats.org/drawingml/2006/main">
            <a:off x="609600" y="2238375"/>
            <a:ext cx="670560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visual">
            <a:extLst xmlns:a="http://schemas.openxmlformats.org/drawingml/2006/main">
              <a:ext uri="{FF2B5EF4-FFF2-40B4-BE49-F238E27FC236}">
                <a16:creationId xmlns:a16="http://schemas.microsoft.com/office/drawing/2014/main" id="{883EA8B0-AAA0-4C84-9EAD-1CE2DBBFE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3667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rPr>
              <a:t>青色临时，金色固定</a:t>
            </a:r>
          </a:p>
        </p:txBody>
      </p:sp>
      <p:sp>
        <p:nvSpPr>
          <p:cNvPr id="6" name="visual-detail">
            <a:extLst xmlns:a="http://schemas.openxmlformats.org/drawingml/2006/main">
              <a:ext uri="{FF2B5EF4-FFF2-40B4-BE49-F238E27FC236}">
                <a16:creationId xmlns:a16="http://schemas.microsoft.com/office/drawing/2014/main" id="{2AA17389-69D1-4128-A750-C599D1D61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28950"/>
            <a:ext cx="366712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颜色与桥面状态对应</a:t>
            </a:r>
          </a:p>
          <a:p xmlns:a="http://schemas.openxmlformats.org/drawingml/2006/main">
            <a: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光环和节拍灯辅助预判</a:t>
            </a:r>
          </a:p>
        </p:txBody>
      </p:sp>
      <p:sp>
        <p:nvSpPr>
          <p:cNvPr id="7" name="clock">
            <a:extLst xmlns:a="http://schemas.openxmlformats.org/drawingml/2006/main">
              <a:ext uri="{FF2B5EF4-FFF2-40B4-BE49-F238E27FC236}">
                <a16:creationId xmlns:a16="http://schemas.microsoft.com/office/drawing/2014/main" id="{0BE3CBE8-D331-485C-9D67-501D8156E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95775"/>
            <a:ext cx="3667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rPr>
              <a:t>统一节拍时钟</a:t>
            </a:r>
          </a:p>
        </p:txBody>
      </p:sp>
      <p:sp>
        <p:nvSpPr>
          <p:cNvPr id="8" name="clock-detail">
            <a:extLst xmlns:a="http://schemas.openxmlformats.org/drawingml/2006/main">
              <a:ext uri="{FF2B5EF4-FFF2-40B4-BE49-F238E27FC236}">
                <a16:creationId xmlns:a16="http://schemas.microsoft.com/office/drawing/2014/main" id="{275FEC01-333B-4E96-A5F6-C6C760F7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057775"/>
            <a:ext cx="36671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支持判定校准</a:t>
            </a:r>
          </a:p>
          <a:p xmlns:a="http://schemas.openxmlformats.org/drawingml/2006/main">
            <a:pPr>
              <a:def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适配不同设备的节拍感受</a:t>
            </a:r>
          </a:p>
        </p:txBody>
      </p:sp>
      <p:sp>
        <p:nvSpPr>
          <p:cNvPr id="9" name="tech">
            <a:extLst xmlns:a="http://schemas.openxmlformats.org/drawingml/2006/main">
              <a:ext uri="{FF2B5EF4-FFF2-40B4-BE49-F238E27FC236}">
                <a16:creationId xmlns:a16="http://schemas.microsoft.com/office/drawing/2014/main" id="{C07A9CE3-2EDD-4E94-A2DF-F0FEA672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Godot 4.4.1    GDScript    几何绘制与循环音轨</a:t>
            </a:r>
          </a:p>
        </p:txBody>
      </p:sp>
    </p:spTree>
    <p:extLst>
      <p:ext uri="{BB962C8B-B14F-4D97-AF65-F5344CB8AC3E}">
        <p14:creationId xmlns:p14="http://schemas.microsoft.com/office/powerpoint/2010/main" val="10104145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17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">
            <a:extLst xmlns:a="http://schemas.openxmlformats.org/drawingml/2006/main">
              <a:ext uri="{FF2B5EF4-FFF2-40B4-BE49-F238E27FC236}">
                <a16:creationId xmlns:a16="http://schemas.microsoft.com/office/drawing/2014/main" id="{EC4883B4-63F0-4B87-9B0E-F497640B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当前成果与协作安排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0ED7474-5DD1-4B93-8E30-ACB0875FD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v0.2 已具备完整的开始、游玩与结算流程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7BE77BE-5B92-4037-A64C-1BBB91357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4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" name="scope">
            <a:extLst xmlns:a="http://schemas.openxmlformats.org/drawingml/2006/main">
              <a:ext uri="{FF2B5EF4-FFF2-40B4-BE49-F238E27FC236}">
                <a16:creationId xmlns:a16="http://schemas.microsoft.com/office/drawing/2014/main" id="{68904E7D-8D42-475F-A4D1-142EF3DBA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447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rPr>
              <a:t>三间房间</a:t>
            </a:r>
          </a:p>
        </p:txBody>
      </p:sp>
      <p:sp>
        <p:nvSpPr>
          <p:cNvPr id="5" name="features">
            <a:extLst xmlns:a="http://schemas.openxmlformats.org/drawingml/2006/main">
              <a:ext uri="{FF2B5EF4-FFF2-40B4-BE49-F238E27FC236}">
                <a16:creationId xmlns:a16="http://schemas.microsoft.com/office/drawing/2014/main" id="{0679A067-BB50-4131-B3C0-DB4F68D4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4762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规则教学与判定反馈</a:t>
            </a:r>
          </a:p>
          <a:p xmlns:a="http://schemas.openxmlformats.org/drawingml/2006/main">
            <a:pPr>
              <a:defRPr sz="22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暂停、重试与通关结算</a:t>
            </a:r>
          </a:p>
        </p:txBody>
      </p:sp>
      <p:sp>
        <p:nvSpPr>
          <p:cNvPr id="6" name="checks">
            <a:extLst xmlns:a="http://schemas.openxmlformats.org/drawingml/2006/main">
              <a:ext uri="{FF2B5EF4-FFF2-40B4-BE49-F238E27FC236}">
                <a16:creationId xmlns:a16="http://schemas.microsoft.com/office/drawing/2014/main" id="{8663A280-A516-46C0-BF85-9C024009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54 项现有自动检查通过</a:t>
            </a:r>
          </a:p>
          <a:p xmlns:a="http://schemas.openxmlformats.org/drawingml/2006/main">
            <a:pPr>
              <a:def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Windows 启动已验证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41744B-F3BD-4444-AD7A-76767C627E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e457e3606c4e74">
            <a:extLst>
              <a:ext uri="{96DAC541-7B7A-43D3-8B79-37D633B846F1}">
                <asvg:svgBlip xmlns:asvg="http://schemas.microsoft.com/office/drawing/2016/SVG/main" r:embed="Ra7b2180f7b0b490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172200" y="2333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8" name="member-0">
            <a:extLst xmlns:a="http://schemas.openxmlformats.org/drawingml/2006/main">
              <a:ext uri="{FF2B5EF4-FFF2-40B4-BE49-F238E27FC236}">
                <a16:creationId xmlns:a16="http://schemas.microsoft.com/office/drawing/2014/main" id="{4520603B-82E3-4049-A7C4-DC5B1AB0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76475"/>
            <a:ext cx="552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9" name="role-0">
            <a:extLst xmlns:a="http://schemas.openxmlformats.org/drawingml/2006/main">
              <a:ext uri="{FF2B5EF4-FFF2-40B4-BE49-F238E27FC236}">
                <a16:creationId xmlns:a16="http://schemas.microsoft.com/office/drawing/2014/main" id="{E2CD6853-86BC-4791-9122-3B1D49096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238375"/>
            <a:ext cx="4038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程序与版本</a:t>
            </a:r>
          </a:p>
        </p:txBody>
      </p:sp>
      <p:sp>
        <p:nvSpPr>
          <p:cNvPr id="10" name="role-detail-0">
            <a:extLst xmlns:a="http://schemas.openxmlformats.org/drawingml/2006/main">
              <a:ext uri="{FF2B5EF4-FFF2-40B4-BE49-F238E27FC236}">
                <a16:creationId xmlns:a16="http://schemas.microsoft.com/office/drawing/2014/main" id="{90165F5F-1D12-4D43-A368-2FFD3567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790825"/>
            <a:ext cx="40386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程序实现、版本管理与统筹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FA6B2A-560F-447C-A93E-A0A578DFC1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b7a736ee6a4a2a">
            <a:extLst>
              <a:ext uri="{96DAC541-7B7A-43D3-8B79-37D633B846F1}">
                <asvg:svgBlip xmlns:asvg="http://schemas.microsoft.com/office/drawing/2016/SVG/main" r:embed="R6f5e8e68c6ae4d7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172200" y="365760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2" name="member-1">
            <a:extLst xmlns:a="http://schemas.openxmlformats.org/drawingml/2006/main">
              <a:ext uri="{FF2B5EF4-FFF2-40B4-BE49-F238E27FC236}">
                <a16:creationId xmlns:a16="http://schemas.microsoft.com/office/drawing/2014/main" id="{3E1B8CB0-35BA-4753-9B16-A0D8646E8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00450"/>
            <a:ext cx="552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55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55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55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55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55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55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55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55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55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13" name="role-1">
            <a:extLst xmlns:a="http://schemas.openxmlformats.org/drawingml/2006/main">
              <a:ext uri="{FF2B5EF4-FFF2-40B4-BE49-F238E27FC236}">
                <a16:creationId xmlns:a16="http://schemas.microsoft.com/office/drawing/2014/main" id="{EAF47B04-DB82-4296-B38E-A6F89DF47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562350"/>
            <a:ext cx="4038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玩法与交互</a:t>
            </a:r>
          </a:p>
        </p:txBody>
      </p:sp>
      <p:sp>
        <p:nvSpPr>
          <p:cNvPr id="14" name="role-detail-1">
            <a:extLst xmlns:a="http://schemas.openxmlformats.org/drawingml/2006/main">
              <a:ext uri="{FF2B5EF4-FFF2-40B4-BE49-F238E27FC236}">
                <a16:creationId xmlns:a16="http://schemas.microsoft.com/office/drawing/2014/main" id="{F55B7AA0-A1D8-4FA2-B265-125182742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114800"/>
            <a:ext cx="40386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关卡设计、教学引导与视觉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B77869-0A8E-457C-BA50-3985AB303C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0c2b50a8244e8c">
            <a:extLst>
              <a:ext uri="{96DAC541-7B7A-43D3-8B79-37D633B846F1}">
                <asvg:svgBlip xmlns:asvg="http://schemas.microsoft.com/office/drawing/2016/SVG/main" r:embed="R2ae73d1901c4491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172200" y="498157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6" name="member-2">
            <a:extLst xmlns:a="http://schemas.openxmlformats.org/drawingml/2006/main">
              <a:ext uri="{FF2B5EF4-FFF2-40B4-BE49-F238E27FC236}">
                <a16:creationId xmlns:a16="http://schemas.microsoft.com/office/drawing/2014/main" id="{777E85A9-935E-4DDA-BDA2-115B7C40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924425"/>
            <a:ext cx="552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17" name="role-2">
            <a:extLst xmlns:a="http://schemas.openxmlformats.org/drawingml/2006/main">
              <a:ext uri="{FF2B5EF4-FFF2-40B4-BE49-F238E27FC236}">
                <a16:creationId xmlns:a16="http://schemas.microsoft.com/office/drawing/2014/main" id="{91FDEE95-7A13-4E5A-A520-D584AC38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886325"/>
            <a:ext cx="4038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声音与材料</a:t>
            </a:r>
          </a:p>
        </p:txBody>
      </p:sp>
      <p:sp>
        <p:nvSpPr>
          <p:cNvPr id="18" name="role-detail-2">
            <a:extLst xmlns:a="http://schemas.openxmlformats.org/drawingml/2006/main">
              <a:ext uri="{FF2B5EF4-FFF2-40B4-BE49-F238E27FC236}">
                <a16:creationId xmlns:a16="http://schemas.microsoft.com/office/drawing/2014/main" id="{A4B4458A-F8BA-4A07-A9E9-8648F6CFA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438775"/>
            <a:ext cx="40386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音频、测试与展示材料</a:t>
            </a:r>
          </a:p>
        </p:txBody>
      </p:sp>
      <p:sp>
        <p:nvSpPr>
          <p:cNvPr id="19" name="next">
            <a:extLst xmlns:a="http://schemas.openxmlformats.org/drawingml/2006/main">
              <a:ext uri="{FF2B5EF4-FFF2-40B4-BE49-F238E27FC236}">
                <a16:creationId xmlns:a16="http://schemas.microsoft.com/office/drawing/2014/main" id="{54AF99B0-42BD-4542-ABE6-5579AC546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后续共同完成独立设备试玩，继续调整手感与提示。</a:t>
            </a:r>
          </a:p>
        </p:txBody>
      </p:sp>
    </p:spTree>
    <p:extLst>
      <p:ext uri="{BB962C8B-B14F-4D97-AF65-F5344CB8AC3E}">
        <p14:creationId xmlns:p14="http://schemas.microsoft.com/office/powerpoint/2010/main" val="124882249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17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F431CD-4AF5-4DC4-A09A-171232F2CF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46c53d0dde42a6"/>
          <a:srcRect xmlns:a="http://schemas.openxmlformats.org/drawingml/2006/main" l="0" t="31204" r="0" b="312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end-title">
            <a:extLst xmlns:a="http://schemas.openxmlformats.org/drawingml/2006/main">
              <a:ext uri="{FF2B5EF4-FFF2-40B4-BE49-F238E27FC236}">
                <a16:creationId xmlns:a16="http://schemas.microsoft.com/office/drawing/2014/main" id="{A8772794-0DAA-44E6-9F66-1B387912D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5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5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5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5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5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5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5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5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5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让走过的路</a:t>
            </a:r>
          </a:p>
          <a:p xmlns:a="http://schemas.openxmlformats.org/drawingml/2006/main">
            <a:pPr>
              <a:defRPr sz="5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400" b="1">
                <a:solidFill>
                  <a:srgbClr val="EEF5F4"/>
                </a:solidFill>
                <a:latin typeface="Microsoft YaHei"/>
                <a:ea typeface="Microsoft YaHei"/>
                <a:cs typeface="Microsoft YaHei"/>
              </a:rPr>
              <a:t>留下光</a:t>
            </a:r>
          </a:p>
        </p:txBody>
      </p:sp>
      <p:sp>
        <p:nvSpPr>
          <p:cNvPr id="3" name="end-sub">
            <a:extLst xmlns:a="http://schemas.openxmlformats.org/drawingml/2006/main">
              <a:ext uri="{FF2B5EF4-FFF2-40B4-BE49-F238E27FC236}">
                <a16:creationId xmlns:a16="http://schemas.microsoft.com/office/drawing/2014/main" id="{AE563C9F-1BB0-405F-BC85-58BCD37AD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7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7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7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7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7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7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7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7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7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F5C96D"/>
                </a:solidFill>
                <a:latin typeface="Microsoft YaHei"/>
                <a:ea typeface="Microsoft YaHei"/>
                <a:cs typeface="Microsoft YaHei"/>
              </a:rPr>
              <a:t>让“律动”成为改变道路的规则</a:t>
            </a:r>
          </a:p>
        </p:txBody>
      </p:sp>
      <p:sp>
        <p:nvSpPr>
          <p:cNvPr id="4" name="thanks">
            <a:extLst xmlns:a="http://schemas.openxmlformats.org/drawingml/2006/main">
              <a:ext uri="{FF2B5EF4-FFF2-40B4-BE49-F238E27FC236}">
                <a16:creationId xmlns:a16="http://schemas.microsoft.com/office/drawing/2014/main" id="{1BFCB30A-90F0-4337-B40D-16D8BE04E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62575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69E7CE"/>
                </a:solidFill>
                <a:latin typeface="Microsoft YaHei"/>
                <a:ea typeface="Microsoft YaHei"/>
                <a:cs typeface="Microsoft YaHei"/>
              </a:rPr>
              <a:t>谢谢大家</a:t>
            </a:r>
          </a:p>
        </p:txBody>
      </p:sp>
      <p:sp>
        <p:nvSpPr>
          <p:cNvPr id="5" name="repo">
            <a:extLst xmlns:a="http://schemas.openxmlformats.org/drawingml/2006/main">
              <a:ext uri="{FF2B5EF4-FFF2-40B4-BE49-F238E27FC236}">
                <a16:creationId xmlns:a16="http://schemas.microsoft.com/office/drawing/2014/main" id="{E3F11B60-4360-41E8-85E9-7EC79748E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62675"/>
            <a:ext cx="10477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A7BEC8"/>
                </a:solidFill>
                <a:latin typeface="Microsoft YaHei"/>
                <a:ea typeface="Microsoft YaHei"/>
                <a:cs typeface="Microsoft YaHei"/>
              </a:rPr>
              <a:t>试玩与源码   github.com/xunraozhou/treadlight</a:t>
            </a:r>
          </a:p>
        </p:txBody>
      </p:sp>
    </p:spTree>
    <p:extLst>
      <p:ext uri="{BB962C8B-B14F-4D97-AF65-F5344CB8AC3E}">
        <p14:creationId xmlns:p14="http://schemas.microsoft.com/office/powerpoint/2010/main" val="1650049575"/>
      </p:ext>
    </p:extLst>
  </p:cSld>
</p:sld>
</file>

<file path=ppt/theme/theme1.xml><?xml version="1.0" encoding="utf-8"?>
<a:theme xmlns:a="http://schemas.openxmlformats.org/drawingml/2006/main" name="Treadlight">
  <a:themeElements>
    <a:clrScheme name="Treadlight">
      <a:dk1>
        <a:srgbClr val="081720"/>
      </a:dk1>
      <a:lt1>
        <a:srgbClr val="EDF5F4"/>
      </a:lt1>
      <a:dk2>
        <a:srgbClr val="102732"/>
      </a:dk2>
      <a:lt2>
        <a:srgbClr val="A3BAC5"/>
      </a:lt2>
      <a:accent1>
        <a:srgbClr val="69E7CE"/>
      </a:accent1>
      <a:accent2>
        <a:srgbClr val="F5C96D"/>
      </a:accent2>
      <a:accent3>
        <a:srgbClr val="FF879D"/>
      </a:accent3>
      <a:accent4>
        <a:srgbClr val="294651"/>
      </a:accent4>
      <a:accent5>
        <a:srgbClr val="79AFC8"/>
      </a:accent5>
      <a:accent6>
        <a:srgbClr val="B9A2E8"/>
      </a:accent6>
      <a:hlink>
        <a:srgbClr val="69E7CE"/>
      </a:hlink>
      <a:folHlink>
        <a:srgbClr val="F5C96D"/>
      </a:folHlink>
    </a:clrScheme>
    <a:fontScheme name="Treadlight">
      <a:majorFont>
        <a:latin typeface="Microsoft YaHei"/>
        <a:ea typeface="Microsoft YaHei"/>
        <a:cs typeface="Arial"/>
      </a:majorFont>
      <a:minorFont>
        <a:latin typeface="Microsoft YaHei"/>
        <a:ea typeface="Microsoft YaHei"/>
        <a:cs typeface="Arial"/>
      </a:minorFont>
    </a:fontScheme>
    <a:fmtScheme name="Treadligh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2026-10-23T08:18:37.0550000Z</dcterms:created>
  <dcterms:modified xsi:type="dcterms:W3CDTF">2026-10-23T08:18:37.0550000Z</dcterms:modified>
</coreProperties>
</file>